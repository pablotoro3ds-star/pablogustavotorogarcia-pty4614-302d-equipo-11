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0" r:id="rId7"/>
    <p:sldId id="262" r:id="rId8"/>
    <p:sldId id="263" r:id="rId9"/>
    <p:sldId id="269" r:id="rId10"/>
    <p:sldId id="270" r:id="rId11"/>
    <p:sldId id="265" r:id="rId12"/>
    <p:sldId id="267" r:id="rId13"/>
    <p:sldId id="268" r:id="rId14"/>
    <p:sldId id="266" r:id="rId15"/>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E8385C-8A94-16F7-6EB1-03F10E2E1298}" v="5" dt="2026-06-19T20:49:20.92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8" d="100"/>
          <a:sy n="78" d="100"/>
        </p:scale>
        <p:origin x="77" y="8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 Id="rId21" Type="http://schemas.microsoft.com/office/2015/10/relationships/revisionInfo" Target="revisionInfo.xml"/><Relationship Id="rId2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a Medina" userId="70e2d102fea2be0b" providerId="Windows Live" clId="Web-{28E8385C-8A94-16F7-6EB1-03F10E2E1298}"/>
    <pc:docChg chg="modSld">
      <pc:chgData name="Carolina Medina" userId="70e2d102fea2be0b" providerId="Windows Live" clId="Web-{28E8385C-8A94-16F7-6EB1-03F10E2E1298}" dt="2026-06-19T20:49:20.926" v="4" actId="14100"/>
      <pc:docMkLst>
        <pc:docMk/>
      </pc:docMkLst>
      <pc:sldChg chg="addSp modSp">
        <pc:chgData name="Carolina Medina" userId="70e2d102fea2be0b" providerId="Windows Live" clId="Web-{28E8385C-8A94-16F7-6EB1-03F10E2E1298}" dt="2026-06-19T20:49:20.926" v="4" actId="14100"/>
        <pc:sldMkLst>
          <pc:docMk/>
          <pc:sldMk cId="2391963198" sldId="256"/>
        </pc:sldMkLst>
        <pc:picChg chg="add mod">
          <ac:chgData name="Carolina Medina" userId="70e2d102fea2be0b" providerId="Windows Live" clId="Web-{28E8385C-8A94-16F7-6EB1-03F10E2E1298}" dt="2026-06-19T20:49:20.926" v="4" actId="14100"/>
          <ac:picMkLst>
            <pc:docMk/>
            <pc:sldMk cId="2391963198" sldId="256"/>
            <ac:picMk id="2" creationId="{940DD14E-9A2F-BEB9-BA28-E596FDF87D46}"/>
          </ac:picMkLst>
        </pc:picChg>
        <pc:picChg chg="mod">
          <ac:chgData name="Carolina Medina" userId="70e2d102fea2be0b" providerId="Windows Live" clId="Web-{28E8385C-8A94-16F7-6EB1-03F10E2E1298}" dt="2026-06-19T20:49:14.191" v="3" actId="1076"/>
          <ac:picMkLst>
            <pc:docMk/>
            <pc:sldMk cId="2391963198" sldId="256"/>
            <ac:picMk id="1026" creationId="{DBCE0F62-5978-5D25-A8E3-872B6D0A9912}"/>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45140C-C326-4DAA-A267-498AD5117D68}" type="doc">
      <dgm:prSet loTypeId="urn:microsoft.com/office/officeart/2005/8/layout/vList4" loCatId="picture" qsTypeId="urn:microsoft.com/office/officeart/2005/8/quickstyle/simple5" qsCatId="simple" csTypeId="urn:microsoft.com/office/officeart/2005/8/colors/accent5_2" csCatId="accent5" phldr="1"/>
      <dgm:spPr/>
      <dgm:t>
        <a:bodyPr/>
        <a:lstStyle/>
        <a:p>
          <a:endParaRPr lang="es-CL"/>
        </a:p>
      </dgm:t>
    </dgm:pt>
    <dgm:pt modelId="{78BFB295-8F5D-4286-B72B-79142F8F0E13}">
      <dgm:prSet phldrT="[Texto]"/>
      <dgm:spPr/>
      <dgm:t>
        <a:bodyPr/>
        <a:lstStyle/>
        <a:p>
          <a:r>
            <a:rPr lang="es-MX" dirty="0"/>
            <a:t>Pablo Gustavo Toro García</a:t>
          </a:r>
          <a:endParaRPr lang="es-CL" dirty="0"/>
        </a:p>
      </dgm:t>
    </dgm:pt>
    <dgm:pt modelId="{F1885FAB-61EC-4F80-98D0-72360031AF9F}" type="parTrans" cxnId="{2AD07198-D472-4B98-B6D5-5A730374E9A2}">
      <dgm:prSet/>
      <dgm:spPr/>
      <dgm:t>
        <a:bodyPr/>
        <a:lstStyle/>
        <a:p>
          <a:endParaRPr lang="es-CL"/>
        </a:p>
      </dgm:t>
    </dgm:pt>
    <dgm:pt modelId="{E88D0928-51D4-4670-8963-60ABBB193E13}" type="sibTrans" cxnId="{2AD07198-D472-4B98-B6D5-5A730374E9A2}">
      <dgm:prSet/>
      <dgm:spPr/>
      <dgm:t>
        <a:bodyPr/>
        <a:lstStyle/>
        <a:p>
          <a:endParaRPr lang="es-CL"/>
        </a:p>
      </dgm:t>
    </dgm:pt>
    <dgm:pt modelId="{D868444B-AE34-4422-A6A5-1F7D392D0C20}">
      <dgm:prSet phldrT="[Texto]"/>
      <dgm:spPr/>
      <dgm:t>
        <a:bodyPr/>
        <a:lstStyle/>
        <a:p>
          <a:r>
            <a:rPr lang="es-MX" dirty="0"/>
            <a:t>Desarrollador fullstack</a:t>
          </a:r>
          <a:endParaRPr lang="es-CL" dirty="0"/>
        </a:p>
      </dgm:t>
    </dgm:pt>
    <dgm:pt modelId="{7DB88D83-6C3A-48C1-8CAD-0D11C3BEC35C}" type="parTrans" cxnId="{484B8A37-0122-4FF5-93D2-4A15DF521A17}">
      <dgm:prSet/>
      <dgm:spPr/>
      <dgm:t>
        <a:bodyPr/>
        <a:lstStyle/>
        <a:p>
          <a:endParaRPr lang="es-CL"/>
        </a:p>
      </dgm:t>
    </dgm:pt>
    <dgm:pt modelId="{74B9B1A5-94EB-40A9-BFF2-678501068FB8}" type="sibTrans" cxnId="{484B8A37-0122-4FF5-93D2-4A15DF521A17}">
      <dgm:prSet/>
      <dgm:spPr/>
      <dgm:t>
        <a:bodyPr/>
        <a:lstStyle/>
        <a:p>
          <a:endParaRPr lang="es-CL"/>
        </a:p>
      </dgm:t>
    </dgm:pt>
    <dgm:pt modelId="{02A34BC0-F8BA-4A89-87A4-4F20079DFD06}">
      <dgm:prSet phldrT="[Texto]"/>
      <dgm:spPr/>
      <dgm:t>
        <a:bodyPr/>
        <a:lstStyle/>
        <a:p>
          <a:r>
            <a:rPr lang="es-MX"/>
            <a:t>Gabriel Alejandro Bermar</a:t>
          </a:r>
          <a:endParaRPr lang="es-CL" dirty="0"/>
        </a:p>
      </dgm:t>
    </dgm:pt>
    <dgm:pt modelId="{9ADB496F-2DB6-4F16-8C91-2EB9CDF5F2F2}" type="parTrans" cxnId="{0E2AE979-A66C-4CEC-BFF4-5B28BB7CD9EA}">
      <dgm:prSet/>
      <dgm:spPr/>
      <dgm:t>
        <a:bodyPr/>
        <a:lstStyle/>
        <a:p>
          <a:endParaRPr lang="es-CL"/>
        </a:p>
      </dgm:t>
    </dgm:pt>
    <dgm:pt modelId="{44AB630E-CD8B-4223-9F51-5EEE4E054B0A}" type="sibTrans" cxnId="{0E2AE979-A66C-4CEC-BFF4-5B28BB7CD9EA}">
      <dgm:prSet/>
      <dgm:spPr/>
      <dgm:t>
        <a:bodyPr/>
        <a:lstStyle/>
        <a:p>
          <a:endParaRPr lang="es-CL"/>
        </a:p>
      </dgm:t>
    </dgm:pt>
    <dgm:pt modelId="{2E221207-005F-49CB-81E1-6D036D64322B}">
      <dgm:prSet phldrT="[Texto]"/>
      <dgm:spPr/>
      <dgm:t>
        <a:bodyPr/>
        <a:lstStyle/>
        <a:p>
          <a:r>
            <a:rPr lang="es-MX" dirty="0"/>
            <a:t>Specs, backend, frontend, pruebas y despliegue</a:t>
          </a:r>
          <a:endParaRPr lang="es-CL" dirty="0"/>
        </a:p>
      </dgm:t>
    </dgm:pt>
    <dgm:pt modelId="{3728DB5E-E904-481D-A1E5-49CF4AFFC0D3}" type="sibTrans" cxnId="{1C3272C9-C630-4D60-B76B-138907BB4D41}">
      <dgm:prSet/>
      <dgm:spPr/>
      <dgm:t>
        <a:bodyPr/>
        <a:lstStyle/>
        <a:p>
          <a:endParaRPr lang="es-CL"/>
        </a:p>
      </dgm:t>
    </dgm:pt>
    <dgm:pt modelId="{B200B6AA-AA2A-4CB8-80FF-4BB54938E8A5}" type="parTrans" cxnId="{1C3272C9-C630-4D60-B76B-138907BB4D41}">
      <dgm:prSet/>
      <dgm:spPr/>
      <dgm:t>
        <a:bodyPr/>
        <a:lstStyle/>
        <a:p>
          <a:endParaRPr lang="es-CL"/>
        </a:p>
      </dgm:t>
    </dgm:pt>
    <dgm:pt modelId="{EA3B2395-55AF-495E-9D6B-329D2886612F}">
      <dgm:prSet phldrT="[Texto]"/>
      <dgm:spPr/>
      <dgm:t>
        <a:bodyPr/>
        <a:lstStyle/>
        <a:p>
          <a:r>
            <a:rPr lang="es-MX" dirty="0"/>
            <a:t>Desarrollador fullstack</a:t>
          </a:r>
          <a:endParaRPr lang="es-CL" dirty="0"/>
        </a:p>
      </dgm:t>
    </dgm:pt>
    <dgm:pt modelId="{11A4E056-7834-4F82-8A9C-B8EA31F159E3}" type="sibTrans" cxnId="{778F2DBC-81F3-476D-BD99-784E4F7153C8}">
      <dgm:prSet/>
      <dgm:spPr/>
      <dgm:t>
        <a:bodyPr/>
        <a:lstStyle/>
        <a:p>
          <a:endParaRPr lang="es-CL"/>
        </a:p>
      </dgm:t>
    </dgm:pt>
    <dgm:pt modelId="{01DA10B6-3F7A-4C8A-AACD-F605EE6CCF20}" type="parTrans" cxnId="{778F2DBC-81F3-476D-BD99-784E4F7153C8}">
      <dgm:prSet/>
      <dgm:spPr/>
      <dgm:t>
        <a:bodyPr/>
        <a:lstStyle/>
        <a:p>
          <a:endParaRPr lang="es-CL"/>
        </a:p>
      </dgm:t>
    </dgm:pt>
    <dgm:pt modelId="{55A2A9EB-4C26-43C3-B721-D475B10BC39B}">
      <dgm:prSet phldrT="[Texto]"/>
      <dgm:spPr/>
      <dgm:t>
        <a:bodyPr/>
        <a:lstStyle/>
        <a:p>
          <a:r>
            <a:rPr lang="es-MX" dirty="0"/>
            <a:t>Specs, backend, frontend, pruebas y despliegue</a:t>
          </a:r>
          <a:endParaRPr lang="es-CL" dirty="0"/>
        </a:p>
      </dgm:t>
    </dgm:pt>
    <dgm:pt modelId="{4EF4588A-187C-4393-9DFC-C6D80B20E995}" type="sibTrans" cxnId="{ECED70CB-7A25-48F8-9E03-51596FB1E92C}">
      <dgm:prSet/>
      <dgm:spPr/>
      <dgm:t>
        <a:bodyPr/>
        <a:lstStyle/>
        <a:p>
          <a:endParaRPr lang="es-CL"/>
        </a:p>
      </dgm:t>
    </dgm:pt>
    <dgm:pt modelId="{B8424EB2-FFE7-4867-9D5A-EE0D46E8AAFE}" type="parTrans" cxnId="{ECED70CB-7A25-48F8-9E03-51596FB1E92C}">
      <dgm:prSet/>
      <dgm:spPr/>
      <dgm:t>
        <a:bodyPr/>
        <a:lstStyle/>
        <a:p>
          <a:endParaRPr lang="es-CL"/>
        </a:p>
      </dgm:t>
    </dgm:pt>
    <dgm:pt modelId="{6E1E561E-88C1-49C6-A3F7-DE4B9AD43273}" type="pres">
      <dgm:prSet presAssocID="{BE45140C-C326-4DAA-A267-498AD5117D68}" presName="linear" presStyleCnt="0">
        <dgm:presLayoutVars>
          <dgm:dir/>
          <dgm:resizeHandles val="exact"/>
        </dgm:presLayoutVars>
      </dgm:prSet>
      <dgm:spPr/>
    </dgm:pt>
    <dgm:pt modelId="{F70979D0-5925-4EC3-AD84-986E0EC7B0D8}" type="pres">
      <dgm:prSet presAssocID="{78BFB295-8F5D-4286-B72B-79142F8F0E13}" presName="comp" presStyleCnt="0"/>
      <dgm:spPr/>
    </dgm:pt>
    <dgm:pt modelId="{54FC4CB6-0791-48D3-B2C5-2E99B8AFCFF7}" type="pres">
      <dgm:prSet presAssocID="{78BFB295-8F5D-4286-B72B-79142F8F0E13}" presName="box" presStyleLbl="node1" presStyleIdx="0" presStyleCnt="3" custLinFactNeighborX="5318" custLinFactNeighborY="-12417"/>
      <dgm:spPr/>
    </dgm:pt>
    <dgm:pt modelId="{9A7E2690-DE9C-4572-9BE5-B8C9A3B8BBB3}" type="pres">
      <dgm:prSet presAssocID="{78BFB295-8F5D-4286-B72B-79142F8F0E13}" presName="img" presStyleLbl="fgImgPlace1" presStyleIdx="0" presStyleCnt="3"/>
      <dgm:spPr/>
    </dgm:pt>
    <dgm:pt modelId="{52D125D2-FCA7-4A2D-AB39-B6BD54F251F2}" type="pres">
      <dgm:prSet presAssocID="{78BFB295-8F5D-4286-B72B-79142F8F0E13}" presName="text" presStyleLbl="node1" presStyleIdx="0" presStyleCnt="3">
        <dgm:presLayoutVars>
          <dgm:bulletEnabled val="1"/>
        </dgm:presLayoutVars>
      </dgm:prSet>
      <dgm:spPr/>
    </dgm:pt>
    <dgm:pt modelId="{E95CA29D-745B-40BA-93B6-BB607C99A2CE}" type="pres">
      <dgm:prSet presAssocID="{E88D0928-51D4-4670-8963-60ABBB193E13}" presName="spacer" presStyleCnt="0"/>
      <dgm:spPr/>
    </dgm:pt>
    <dgm:pt modelId="{41A67AC8-1DD7-4AB7-96A3-87B24035E3FA}" type="pres">
      <dgm:prSet presAssocID="{02A34BC0-F8BA-4A89-87A4-4F20079DFD06}" presName="comp" presStyleCnt="0"/>
      <dgm:spPr/>
    </dgm:pt>
    <dgm:pt modelId="{39AFE128-ACF6-44CA-B18B-64F5782CF210}" type="pres">
      <dgm:prSet presAssocID="{02A34BC0-F8BA-4A89-87A4-4F20079DFD06}" presName="box" presStyleLbl="node1" presStyleIdx="1" presStyleCnt="3"/>
      <dgm:spPr/>
    </dgm:pt>
    <dgm:pt modelId="{3F97C059-D720-4D48-953F-B84D04D0BF79}" type="pres">
      <dgm:prSet presAssocID="{02A34BC0-F8BA-4A89-87A4-4F20079DFD06}" presName="img" presStyleLbl="fgImgPlace1" presStyleIdx="1" presStyleCnt="3"/>
      <dgm:spPr/>
    </dgm:pt>
    <dgm:pt modelId="{CFFDF23F-D296-4CDF-8EE4-8A672559E207}" type="pres">
      <dgm:prSet presAssocID="{02A34BC0-F8BA-4A89-87A4-4F20079DFD06}" presName="text" presStyleLbl="node1" presStyleIdx="1" presStyleCnt="3">
        <dgm:presLayoutVars>
          <dgm:bulletEnabled val="1"/>
        </dgm:presLayoutVars>
      </dgm:prSet>
      <dgm:spPr/>
    </dgm:pt>
    <dgm:pt modelId="{40453781-DACE-4118-ADC4-2B966E9374E5}" type="pres">
      <dgm:prSet presAssocID="{44AB630E-CD8B-4223-9F51-5EEE4E054B0A}" presName="spacer" presStyleCnt="0"/>
      <dgm:spPr/>
    </dgm:pt>
  </dgm:ptLst>
  <dgm:cxnLst>
    <dgm:cxn modelId="{399BD705-2380-48A3-9C48-1D49A5A32D61}" type="presOf" srcId="{2E221207-005F-49CB-81E1-6D036D64322B}" destId="{52D125D2-FCA7-4A2D-AB39-B6BD54F251F2}" srcOrd="1" destOrd="2" presId="urn:microsoft.com/office/officeart/2005/8/layout/vList4"/>
    <dgm:cxn modelId="{D2B94F0C-C779-4AC1-87E4-35116A3DED02}" type="presOf" srcId="{78BFB295-8F5D-4286-B72B-79142F8F0E13}" destId="{54FC4CB6-0791-48D3-B2C5-2E99B8AFCFF7}" srcOrd="0" destOrd="0" presId="urn:microsoft.com/office/officeart/2005/8/layout/vList4"/>
    <dgm:cxn modelId="{A6E20436-8EF1-4FFF-9C29-AC69BF1D5C4A}" type="presOf" srcId="{02A34BC0-F8BA-4A89-87A4-4F20079DFD06}" destId="{39AFE128-ACF6-44CA-B18B-64F5782CF210}" srcOrd="0" destOrd="0" presId="urn:microsoft.com/office/officeart/2005/8/layout/vList4"/>
    <dgm:cxn modelId="{484B8A37-0122-4FF5-93D2-4A15DF521A17}" srcId="{78BFB295-8F5D-4286-B72B-79142F8F0E13}" destId="{D868444B-AE34-4422-A6A5-1F7D392D0C20}" srcOrd="0" destOrd="0" parTransId="{7DB88D83-6C3A-48C1-8CAD-0D11C3BEC35C}" sibTransId="{74B9B1A5-94EB-40A9-BFF2-678501068FB8}"/>
    <dgm:cxn modelId="{22F3405C-AB8E-4AC3-A83C-C551BA0831ED}" type="presOf" srcId="{55A2A9EB-4C26-43C3-B721-D475B10BC39B}" destId="{39AFE128-ACF6-44CA-B18B-64F5782CF210}" srcOrd="0" destOrd="2" presId="urn:microsoft.com/office/officeart/2005/8/layout/vList4"/>
    <dgm:cxn modelId="{7E8FC05E-FE02-4336-B1F8-3EAA05519A49}" type="presOf" srcId="{D868444B-AE34-4422-A6A5-1F7D392D0C20}" destId="{54FC4CB6-0791-48D3-B2C5-2E99B8AFCFF7}" srcOrd="0" destOrd="1" presId="urn:microsoft.com/office/officeart/2005/8/layout/vList4"/>
    <dgm:cxn modelId="{DC02AD53-682D-464B-9D09-C1B6DCD5AFB0}" type="presOf" srcId="{55A2A9EB-4C26-43C3-B721-D475B10BC39B}" destId="{CFFDF23F-D296-4CDF-8EE4-8A672559E207}" srcOrd="1" destOrd="2" presId="urn:microsoft.com/office/officeart/2005/8/layout/vList4"/>
    <dgm:cxn modelId="{0E2AE979-A66C-4CEC-BFF4-5B28BB7CD9EA}" srcId="{BE45140C-C326-4DAA-A267-498AD5117D68}" destId="{02A34BC0-F8BA-4A89-87A4-4F20079DFD06}" srcOrd="1" destOrd="0" parTransId="{9ADB496F-2DB6-4F16-8C91-2EB9CDF5F2F2}" sibTransId="{44AB630E-CD8B-4223-9F51-5EEE4E054B0A}"/>
    <dgm:cxn modelId="{2AD07198-D472-4B98-B6D5-5A730374E9A2}" srcId="{BE45140C-C326-4DAA-A267-498AD5117D68}" destId="{78BFB295-8F5D-4286-B72B-79142F8F0E13}" srcOrd="0" destOrd="0" parTransId="{F1885FAB-61EC-4F80-98D0-72360031AF9F}" sibTransId="{E88D0928-51D4-4670-8963-60ABBB193E13}"/>
    <dgm:cxn modelId="{690A389C-25C1-485B-88F9-437236A47744}" type="presOf" srcId="{BE45140C-C326-4DAA-A267-498AD5117D68}" destId="{6E1E561E-88C1-49C6-A3F7-DE4B9AD43273}" srcOrd="0" destOrd="0" presId="urn:microsoft.com/office/officeart/2005/8/layout/vList4"/>
    <dgm:cxn modelId="{ECFD91A4-F44F-4C84-8B25-37DA0B249A1F}" type="presOf" srcId="{78BFB295-8F5D-4286-B72B-79142F8F0E13}" destId="{52D125D2-FCA7-4A2D-AB39-B6BD54F251F2}" srcOrd="1" destOrd="0" presId="urn:microsoft.com/office/officeart/2005/8/layout/vList4"/>
    <dgm:cxn modelId="{778F2DBC-81F3-476D-BD99-784E4F7153C8}" srcId="{02A34BC0-F8BA-4A89-87A4-4F20079DFD06}" destId="{EA3B2395-55AF-495E-9D6B-329D2886612F}" srcOrd="0" destOrd="0" parTransId="{01DA10B6-3F7A-4C8A-AACD-F605EE6CCF20}" sibTransId="{11A4E056-7834-4F82-8A9C-B8EA31F159E3}"/>
    <dgm:cxn modelId="{FE5360C5-555C-42B2-9E63-16D2D46F21B1}" type="presOf" srcId="{D868444B-AE34-4422-A6A5-1F7D392D0C20}" destId="{52D125D2-FCA7-4A2D-AB39-B6BD54F251F2}" srcOrd="1" destOrd="1" presId="urn:microsoft.com/office/officeart/2005/8/layout/vList4"/>
    <dgm:cxn modelId="{1C3272C9-C630-4D60-B76B-138907BB4D41}" srcId="{78BFB295-8F5D-4286-B72B-79142F8F0E13}" destId="{2E221207-005F-49CB-81E1-6D036D64322B}" srcOrd="1" destOrd="0" parTransId="{B200B6AA-AA2A-4CB8-80FF-4BB54938E8A5}" sibTransId="{3728DB5E-E904-481D-A1E5-49CF4AFFC0D3}"/>
    <dgm:cxn modelId="{B0C181C9-77EB-4775-B9E6-C6CBDA60E6EB}" type="presOf" srcId="{EA3B2395-55AF-495E-9D6B-329D2886612F}" destId="{CFFDF23F-D296-4CDF-8EE4-8A672559E207}" srcOrd="1" destOrd="1" presId="urn:microsoft.com/office/officeart/2005/8/layout/vList4"/>
    <dgm:cxn modelId="{ECED70CB-7A25-48F8-9E03-51596FB1E92C}" srcId="{02A34BC0-F8BA-4A89-87A4-4F20079DFD06}" destId="{55A2A9EB-4C26-43C3-B721-D475B10BC39B}" srcOrd="1" destOrd="0" parTransId="{B8424EB2-FFE7-4867-9D5A-EE0D46E8AAFE}" sibTransId="{4EF4588A-187C-4393-9DFC-C6D80B20E995}"/>
    <dgm:cxn modelId="{22A4C7D2-C14A-4622-8C4E-3FE51F50DCC3}" type="presOf" srcId="{02A34BC0-F8BA-4A89-87A4-4F20079DFD06}" destId="{CFFDF23F-D296-4CDF-8EE4-8A672559E207}" srcOrd="1" destOrd="0" presId="urn:microsoft.com/office/officeart/2005/8/layout/vList4"/>
    <dgm:cxn modelId="{A70C9FD5-2935-4C81-937A-B6C05F5E54BA}" type="presOf" srcId="{2E221207-005F-49CB-81E1-6D036D64322B}" destId="{54FC4CB6-0791-48D3-B2C5-2E99B8AFCFF7}" srcOrd="0" destOrd="2" presId="urn:microsoft.com/office/officeart/2005/8/layout/vList4"/>
    <dgm:cxn modelId="{7ABE08FD-4ED4-44FB-BFBA-794B6C5FA813}" type="presOf" srcId="{EA3B2395-55AF-495E-9D6B-329D2886612F}" destId="{39AFE128-ACF6-44CA-B18B-64F5782CF210}" srcOrd="0" destOrd="1" presId="urn:microsoft.com/office/officeart/2005/8/layout/vList4"/>
    <dgm:cxn modelId="{DA463EE6-78DB-4E59-8099-EBA029F401B0}" type="presParOf" srcId="{6E1E561E-88C1-49C6-A3F7-DE4B9AD43273}" destId="{F70979D0-5925-4EC3-AD84-986E0EC7B0D8}" srcOrd="0" destOrd="0" presId="urn:microsoft.com/office/officeart/2005/8/layout/vList4"/>
    <dgm:cxn modelId="{2FE346D7-6685-4BD0-9465-988681234E35}" type="presParOf" srcId="{F70979D0-5925-4EC3-AD84-986E0EC7B0D8}" destId="{54FC4CB6-0791-48D3-B2C5-2E99B8AFCFF7}" srcOrd="0" destOrd="0" presId="urn:microsoft.com/office/officeart/2005/8/layout/vList4"/>
    <dgm:cxn modelId="{3671DC51-8308-4E14-B210-C8528BB18500}" type="presParOf" srcId="{F70979D0-5925-4EC3-AD84-986E0EC7B0D8}" destId="{9A7E2690-DE9C-4572-9BE5-B8C9A3B8BBB3}" srcOrd="1" destOrd="0" presId="urn:microsoft.com/office/officeart/2005/8/layout/vList4"/>
    <dgm:cxn modelId="{36512CCB-6AF4-4E79-94F2-3EAFE5E8BC48}" type="presParOf" srcId="{F70979D0-5925-4EC3-AD84-986E0EC7B0D8}" destId="{52D125D2-FCA7-4A2D-AB39-B6BD54F251F2}" srcOrd="2" destOrd="0" presId="urn:microsoft.com/office/officeart/2005/8/layout/vList4"/>
    <dgm:cxn modelId="{ECC56BF9-E938-422B-98CD-A358ACD6F8DC}" type="presParOf" srcId="{6E1E561E-88C1-49C6-A3F7-DE4B9AD43273}" destId="{E95CA29D-745B-40BA-93B6-BB607C99A2CE}" srcOrd="1" destOrd="0" presId="urn:microsoft.com/office/officeart/2005/8/layout/vList4"/>
    <dgm:cxn modelId="{158F6488-FF9D-4053-8FD1-E0DD5F22ECAD}" type="presParOf" srcId="{6E1E561E-88C1-49C6-A3F7-DE4B9AD43273}" destId="{41A67AC8-1DD7-4AB7-96A3-87B24035E3FA}" srcOrd="2" destOrd="0" presId="urn:microsoft.com/office/officeart/2005/8/layout/vList4"/>
    <dgm:cxn modelId="{236FF4A9-4957-4F7A-A24B-795FE34BEEFD}" type="presParOf" srcId="{41A67AC8-1DD7-4AB7-96A3-87B24035E3FA}" destId="{39AFE128-ACF6-44CA-B18B-64F5782CF210}" srcOrd="0" destOrd="0" presId="urn:microsoft.com/office/officeart/2005/8/layout/vList4"/>
    <dgm:cxn modelId="{5BD15FCC-0B87-4D85-98EC-9D897E4655EE}" type="presParOf" srcId="{41A67AC8-1DD7-4AB7-96A3-87B24035E3FA}" destId="{3F97C059-D720-4D48-953F-B84D04D0BF79}" srcOrd="1" destOrd="0" presId="urn:microsoft.com/office/officeart/2005/8/layout/vList4"/>
    <dgm:cxn modelId="{3156CEE4-28C8-4C16-85AC-EE6796DAD482}" type="presParOf" srcId="{41A67AC8-1DD7-4AB7-96A3-87B24035E3FA}" destId="{CFFDF23F-D296-4CDF-8EE4-8A672559E207}" srcOrd="2" destOrd="0" presId="urn:microsoft.com/office/officeart/2005/8/layout/vList4"/>
    <dgm:cxn modelId="{C9CD1524-D5D2-47DD-A731-469F83B73691}" type="presParOf" srcId="{6E1E561E-88C1-49C6-A3F7-DE4B9AD43273}" destId="{40453781-DACE-4118-ADC4-2B966E9374E5}" srcOrd="3"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FC4CB6-0791-48D3-B2C5-2E99B8AFCFF7}">
      <dsp:nvSpPr>
        <dsp:cNvPr id="0" name=""/>
        <dsp:cNvSpPr/>
      </dsp:nvSpPr>
      <dsp:spPr>
        <a:xfrm>
          <a:off x="0" y="0"/>
          <a:ext cx="7633494" cy="1359548"/>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s-MX" sz="2600" kern="1200" dirty="0"/>
            <a:t>Pablo Gustavo Toro García</a:t>
          </a:r>
          <a:endParaRPr lang="es-CL" sz="2600" kern="1200" dirty="0"/>
        </a:p>
        <a:p>
          <a:pPr marL="228600" lvl="1" indent="-228600" algn="l" defTabSz="889000">
            <a:lnSpc>
              <a:spcPct val="90000"/>
            </a:lnSpc>
            <a:spcBef>
              <a:spcPct val="0"/>
            </a:spcBef>
            <a:spcAft>
              <a:spcPct val="15000"/>
            </a:spcAft>
            <a:buChar char="•"/>
          </a:pPr>
          <a:r>
            <a:rPr lang="es-MX" sz="2000" kern="1200" dirty="0"/>
            <a:t>Desarrollador fullstack</a:t>
          </a:r>
          <a:endParaRPr lang="es-CL" sz="2000" kern="1200" dirty="0"/>
        </a:p>
        <a:p>
          <a:pPr marL="228600" lvl="1" indent="-228600" algn="l" defTabSz="889000">
            <a:lnSpc>
              <a:spcPct val="90000"/>
            </a:lnSpc>
            <a:spcBef>
              <a:spcPct val="0"/>
            </a:spcBef>
            <a:spcAft>
              <a:spcPct val="15000"/>
            </a:spcAft>
            <a:buChar char="•"/>
          </a:pPr>
          <a:r>
            <a:rPr lang="es-MX" sz="2000" kern="1200" dirty="0"/>
            <a:t>Specs, backend, frontend, pruebas y despliegue</a:t>
          </a:r>
          <a:endParaRPr lang="es-CL" sz="2000" kern="1200" dirty="0"/>
        </a:p>
      </dsp:txBody>
      <dsp:txXfrm>
        <a:off x="1662653" y="0"/>
        <a:ext cx="5970840" cy="1359548"/>
      </dsp:txXfrm>
    </dsp:sp>
    <dsp:sp modelId="{9A7E2690-DE9C-4572-9BE5-B8C9A3B8BBB3}">
      <dsp:nvSpPr>
        <dsp:cNvPr id="0" name=""/>
        <dsp:cNvSpPr/>
      </dsp:nvSpPr>
      <dsp:spPr>
        <a:xfrm>
          <a:off x="135954" y="135954"/>
          <a:ext cx="1526698" cy="1087638"/>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39AFE128-ACF6-44CA-B18B-64F5782CF210}">
      <dsp:nvSpPr>
        <dsp:cNvPr id="0" name=""/>
        <dsp:cNvSpPr/>
      </dsp:nvSpPr>
      <dsp:spPr>
        <a:xfrm>
          <a:off x="0" y="1495502"/>
          <a:ext cx="7633494" cy="1359548"/>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s-MX" sz="2600" kern="1200"/>
            <a:t>Gabriel Alejandro Bermar</a:t>
          </a:r>
          <a:endParaRPr lang="es-CL" sz="2600" kern="1200" dirty="0"/>
        </a:p>
        <a:p>
          <a:pPr marL="228600" lvl="1" indent="-228600" algn="l" defTabSz="889000">
            <a:lnSpc>
              <a:spcPct val="90000"/>
            </a:lnSpc>
            <a:spcBef>
              <a:spcPct val="0"/>
            </a:spcBef>
            <a:spcAft>
              <a:spcPct val="15000"/>
            </a:spcAft>
            <a:buChar char="•"/>
          </a:pPr>
          <a:r>
            <a:rPr lang="es-MX" sz="2000" kern="1200" dirty="0"/>
            <a:t>Desarrollador fullstack</a:t>
          </a:r>
          <a:endParaRPr lang="es-CL" sz="2000" kern="1200" dirty="0"/>
        </a:p>
        <a:p>
          <a:pPr marL="228600" lvl="1" indent="-228600" algn="l" defTabSz="889000">
            <a:lnSpc>
              <a:spcPct val="90000"/>
            </a:lnSpc>
            <a:spcBef>
              <a:spcPct val="0"/>
            </a:spcBef>
            <a:spcAft>
              <a:spcPct val="15000"/>
            </a:spcAft>
            <a:buChar char="•"/>
          </a:pPr>
          <a:r>
            <a:rPr lang="es-MX" sz="2000" kern="1200" dirty="0"/>
            <a:t>Specs, backend, frontend, pruebas y despliegue</a:t>
          </a:r>
          <a:endParaRPr lang="es-CL" sz="2000" kern="1200" dirty="0"/>
        </a:p>
      </dsp:txBody>
      <dsp:txXfrm>
        <a:off x="1662653" y="1495502"/>
        <a:ext cx="5970840" cy="1359548"/>
      </dsp:txXfrm>
    </dsp:sp>
    <dsp:sp modelId="{3F97C059-D720-4D48-953F-B84D04D0BF79}">
      <dsp:nvSpPr>
        <dsp:cNvPr id="0" name=""/>
        <dsp:cNvSpPr/>
      </dsp:nvSpPr>
      <dsp:spPr>
        <a:xfrm>
          <a:off x="135954" y="1631457"/>
          <a:ext cx="1526698" cy="1087638"/>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total: 7 minutos. Reparto sugerido: portada e integrantes 0:30 · descripción 0:50 · objetivos 0:35 · alcances 0:35 · metodología 0:40 · cronograma 0:30 · arquitectura 0:40 · modelo de datos 0:30 · tecnologías 0:20 · demostración 1:20 · resultados 0:35 · obstáculos 0:25. Presenta Pablo: portada, descripción, arquitectura, modelo de datos, resultados. Presenta Gabriel: integrantes, objetivos, alcances, metodología, cronograma, tecnologías, obstáculos. Abrir diciendo: Kuentas es un SaaS contable real de PittySoft; nuestro proyecto fue construir su motor contable completo.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Gabriel (20 s). Somos dos desarrolladores fullstack con el mismo rol: cada uno toma una especificación completa, backend y frontend, y la lleva hasta el despliegue. Ambos redactamos las specs, revisamos los Pull Requests del otro y validamos con el contador.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Pablo (50 s). Partir del dolor concreto: el contador digita dos veces y arma los libros a mano en Excel, con riesgo de descuadre ante el SII. Kuentas resuelve eso con captura validada y libros generados en línea, accesibles desde cualquier lugar y con los datos de cada empresa aislados.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Gabriel (35 s). Leer el objetivo general y resumir los específicos por su verbo: diseñar, implementar, construir, validar y desplegar. Cada uno se refleja en una etapa del cronograma.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Gabriel (35 s). Ser claro con el límite: la integración con el SII es simulada y hay cinco pantallas sin lógica tributaria, porque dependen de reglas que debe validar el contador. Todo lo demás quedó operativo.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Gabriel (40 s). El punto fuerte: nada se programa sin especificación previa con criterios de aceptación, y nada llega a producción sin pasar las pruebas. Eso permitió avanzar módulo a módulo sin romper lo anterior.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Gabriel (30 s). Las Fases 1 a 6 del roadmap se cerraron entre las semanas 1 y 9: ahí quedó completa la clonación de MasContable. Desde la semana 10 corre la Fase 7, con los requerimientos del contador; el hito es el 1 de noviembre, cuando todas las integraciones con el SII quedan terminadas. Desde ahí empieza la marcha blanca: contadores usando el sistema en su trabajo real durante noviembre y diciembre, lo que permite corregir antes del lanzamiento oficial del 1 de enero. Las semanas 17 y 18 son el QA, el despliegue y el cierre del proyecto APT; las columnas finales van más allá del semestre porque el lanzamiento es posterior.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Pablo (40 s). Recorrer la petición de izquierda a derecha: la vista en Vue llama a la API en NestJS, la capa de servicios aplica la lógica contable y Prisma persiste en PostgreSQL. Cada empresa queda aislada por tenantId y todo corre en contenedores en Cloud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Pablo (30 s). La decisión clave del modelo: no duplicar tablas. Compras, ventas y honorarios se registran como vouchers, así que todos los libros y balances se derivan del mismo dato y siempre cuadran entre sí.</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Gabriel (20 s). Stack completo en TypeScript, de punta a punta, con PostgreSQL y despliegue en Google Cloud. No leer la lista entera: destacar que es el mismo lenguaje en todo el proyecto y que el despliegue es automatizado.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Demostración en vivo (1 min 20 s). Guion corto: crear un comprobante con cuadratura automática, mostrarlo en el Libro Diario y en el Libro Mayor, y terminar con el Balance General del período. Tener la sesión iniciada y los datos cargados de antemano.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Pablo (35 s). Cerrar con el resultado concreto: el contador puede llevar una contabilidad completa en Kuentas, desde la creación de la empresa hasta los balances, y el sistema está en producción.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Gabriel (25 s). Nombrar el obstáculo y, en la misma frase, cómo se resolvió. El más relevante es la falta de acceso real al SII, porque define el trabajo de la etapa siguiente.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Agradecer y quedar disponibles para las preguntas de la comisión. Preguntas probables: cómo se garantiza la cuadratura, cómo se aíslan los datos entre empresas, qué falta para la integración real con el SII.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64A916-2C2E-265E-D1A7-F8BA8BAA561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2E2B618F-FEF4-D0FB-4038-D93A262EA3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5443312A-AEFB-3177-E12B-386C4F4291CC}"/>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5" name="Marcador de pie de página 4">
            <a:extLst>
              <a:ext uri="{FF2B5EF4-FFF2-40B4-BE49-F238E27FC236}">
                <a16:creationId xmlns:a16="http://schemas.microsoft.com/office/drawing/2014/main" id="{A47C3C00-ADC0-ABB2-EF55-4D170DA0D74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1B0C28A-E393-39C0-65D4-7252445FA6A3}"/>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05388704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A7B6CD-9456-B138-ECD2-C8D7A666C49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874D6B0-7AF3-685F-CEAB-5529E05E8CF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AF52F25-C2C6-7F7B-276E-37CD648AA75E}"/>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5" name="Marcador de pie de página 4">
            <a:extLst>
              <a:ext uri="{FF2B5EF4-FFF2-40B4-BE49-F238E27FC236}">
                <a16:creationId xmlns:a16="http://schemas.microsoft.com/office/drawing/2014/main" id="{03947A73-C5CF-9FE2-967B-D4D866F9DD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0ECAE93-9144-BF33-1401-DF6FFF6FAB64}"/>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623929711"/>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B56A89-B019-96BD-5BAD-62AE0C3AC10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22B60B4-76B8-D88B-5674-F86DC36707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9DE800A-255F-4AE1-5E56-606A61B379B8}"/>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5" name="Marcador de pie de página 4">
            <a:extLst>
              <a:ext uri="{FF2B5EF4-FFF2-40B4-BE49-F238E27FC236}">
                <a16:creationId xmlns:a16="http://schemas.microsoft.com/office/drawing/2014/main" id="{8DFC92BF-9B9F-10CC-5BC8-BAC85DDB9BB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3372357-062E-F22F-4B80-ED779DDD11B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9142600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399D17-3BAA-B1F3-D450-274A02753DE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660F58E-6555-CC20-7FB5-60DB4AEFC8C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42CAA47F-EB54-628D-A823-3A00718BE86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890AFF8-D9BE-4C13-0483-E843C51CA16A}"/>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6" name="Marcador de pie de página 5">
            <a:extLst>
              <a:ext uri="{FF2B5EF4-FFF2-40B4-BE49-F238E27FC236}">
                <a16:creationId xmlns:a16="http://schemas.microsoft.com/office/drawing/2014/main" id="{2ECF5C03-2790-90EB-0D65-AA62820C0CD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491F526-CDE5-755B-4A3F-50F807763AF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352846858"/>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9CF108-6B99-8CCE-C8FD-D995F9965A5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0B922A-6156-2235-AA95-A8B8C02B33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F40D8F2-325E-B2D8-EDDA-56DE9D1F201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58884F1-5F33-E36A-DEE4-9693FBE7DB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5DF08E0-1508-F512-337D-F5C8A5F0C35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A553ED18-81E3-9782-22CD-40D6A19098E9}"/>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8" name="Marcador de pie de página 7">
            <a:extLst>
              <a:ext uri="{FF2B5EF4-FFF2-40B4-BE49-F238E27FC236}">
                <a16:creationId xmlns:a16="http://schemas.microsoft.com/office/drawing/2014/main" id="{F78D2E67-9BFA-E800-3A7E-8900D96D4AB2}"/>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056AEF8A-22F0-544A-1B96-40996F1A6F82}"/>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226304476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80A5D8-AC89-1289-2F04-0814CB9B163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703452B-17EB-394F-735B-5A921A58A383}"/>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4" name="Marcador de pie de página 3">
            <a:extLst>
              <a:ext uri="{FF2B5EF4-FFF2-40B4-BE49-F238E27FC236}">
                <a16:creationId xmlns:a16="http://schemas.microsoft.com/office/drawing/2014/main" id="{A60A54D4-94C4-7743-43A2-1A52792A4A3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69886359-BA16-2E60-D21D-C9E1AD88B45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802827478"/>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9082406-6A57-2057-24EC-1A6C257A2E2A}"/>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3" name="Marcador de pie de página 2">
            <a:extLst>
              <a:ext uri="{FF2B5EF4-FFF2-40B4-BE49-F238E27FC236}">
                <a16:creationId xmlns:a16="http://schemas.microsoft.com/office/drawing/2014/main" id="{4D4737A7-3975-9225-3AAC-282F9F4567A6}"/>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0758996F-BDE4-86FA-BD9D-DFCAB9143F7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53576406"/>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5B1326-48D6-CCCF-9030-3AC9A67CDAC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704BD84-4F55-3649-4756-7A4CE760D3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3F111F47-438E-ECB7-5D1F-CB07E54FD6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01E9545-DD0E-6A0B-2B88-934785A7ED75}"/>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6" name="Marcador de pie de página 5">
            <a:extLst>
              <a:ext uri="{FF2B5EF4-FFF2-40B4-BE49-F238E27FC236}">
                <a16:creationId xmlns:a16="http://schemas.microsoft.com/office/drawing/2014/main" id="{D23CD897-12AF-A56D-CB14-1B41012DE2C7}"/>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9257B85-275B-F539-96E6-BF6C3F487D25}"/>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15351477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5BFE8-4F8E-9F77-F45C-B4D870295BB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23CB21F6-368F-6F50-5C0D-6BE2DDE1E4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E012122B-29C5-7F4E-7EFB-41EF277FC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7332B2-B78B-790B-184B-C7299CC48B23}"/>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6" name="Marcador de pie de página 5">
            <a:extLst>
              <a:ext uri="{FF2B5EF4-FFF2-40B4-BE49-F238E27FC236}">
                <a16:creationId xmlns:a16="http://schemas.microsoft.com/office/drawing/2014/main" id="{761CBB3B-17B4-113F-AA5B-E804167ADCD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C8A1FFA-A66B-F32D-E3CE-2337B07F5FA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236603574"/>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CA4049-BEF3-0AFD-A19B-45FF1D82064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4FD3394-1BB2-4A78-E0C2-B81E3B0A0CE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FB1E014-02B1-2EA8-C324-69C0657119E1}"/>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5" name="Marcador de pie de página 4">
            <a:extLst>
              <a:ext uri="{FF2B5EF4-FFF2-40B4-BE49-F238E27FC236}">
                <a16:creationId xmlns:a16="http://schemas.microsoft.com/office/drawing/2014/main" id="{15D9E46F-A5FD-E000-2817-06E54BC72CB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5F151D9-94A1-87E1-B673-4D3D316B9078}"/>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085804739"/>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B72A6E5-A0E4-586A-8BAE-08F39AC9E9A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C8C75B9-2362-53B4-3282-7D8A22F0619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B97AA35-3C24-08C9-2992-BE0C70C5DAAA}"/>
              </a:ext>
            </a:extLst>
          </p:cNvPr>
          <p:cNvSpPr>
            <a:spLocks noGrp="1"/>
          </p:cNvSpPr>
          <p:nvPr>
            <p:ph type="dt" sz="half" idx="10"/>
          </p:nvPr>
        </p:nvSpPr>
        <p:spPr/>
        <p:txBody>
          <a:bodyPr/>
          <a:lstStyle/>
          <a:p>
            <a:fld id="{6E1704C8-43E3-4F4F-BE90-356A640D5754}" type="datetimeFigureOut">
              <a:rPr lang="es-CL" smtClean="0"/>
              <a:t>19-06-2026</a:t>
            </a:fld>
            <a:endParaRPr lang="es-CL"/>
          </a:p>
        </p:txBody>
      </p:sp>
      <p:sp>
        <p:nvSpPr>
          <p:cNvPr id="5" name="Marcador de pie de página 4">
            <a:extLst>
              <a:ext uri="{FF2B5EF4-FFF2-40B4-BE49-F238E27FC236}">
                <a16:creationId xmlns:a16="http://schemas.microsoft.com/office/drawing/2014/main" id="{59103D78-DCDD-276E-7575-A1992D704E5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B60B15A-BAF6-5EBF-7331-0AFFFFABED0D}"/>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2333768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48B6D4E-E3C2-3792-E3C4-2CBC2E052D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2E89E-FB21-817B-8050-7AD81F9CED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3A1C48C-F8B6-B30A-3815-D7ADD14FF2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1704C8-43E3-4F4F-BE90-356A640D5754}" type="datetimeFigureOut">
              <a:rPr lang="es-CL" smtClean="0"/>
              <a:t>19-06-2026</a:t>
            </a:fld>
            <a:endParaRPr lang="es-CL"/>
          </a:p>
        </p:txBody>
      </p:sp>
      <p:sp>
        <p:nvSpPr>
          <p:cNvPr id="5" name="Marcador de pie de página 4">
            <a:extLst>
              <a:ext uri="{FF2B5EF4-FFF2-40B4-BE49-F238E27FC236}">
                <a16:creationId xmlns:a16="http://schemas.microsoft.com/office/drawing/2014/main" id="{C909214F-88E2-1045-9D0B-C2ECD481C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2D38CA17-DD6E-139F-6ED9-FAD83BB727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B2AF52-67EF-4B3A-939D-BC0B060810A1}" type="slidenum">
              <a:rPr lang="es-CL" smtClean="0"/>
              <a:t>‹Nº›</a:t>
            </a:fld>
            <a:endParaRPr lang="es-CL"/>
          </a:p>
        </p:txBody>
      </p:sp>
    </p:spTree>
    <p:extLst>
      <p:ext uri="{BB962C8B-B14F-4D97-AF65-F5344CB8AC3E}">
        <p14:creationId xmlns:p14="http://schemas.microsoft.com/office/powerpoint/2010/main" val="275670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4529" y="495097"/>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707792"/>
            <a:ext cx="12191999" cy="1138773"/>
          </a:xfrm>
          <a:prstGeom prst="rect">
            <a:avLst/>
          </a:prstGeom>
          <a:noFill/>
        </p:spPr>
        <p:txBody>
          <a:bodyPr wrap="square" rtlCol="0">
            <a:spAutoFit/>
          </a:bodyPr>
          <a:lstStyle/>
          <a:p>
            <a:pPr algn="ctr"/>
            <a:r>
              <a:rPr lang="es-MX" sz="4400" dirty="0"/>
              <a:t>PROYECTO “KUENTAS”</a:t>
            </a:r>
          </a:p>
          <a:p>
            <a:pPr algn="ctr"/>
            <a:r>
              <a:rPr lang="es-MX" sz="2400" dirty="0"/>
              <a:t>PRESENTACIÓN FINAL CAPSTONE</a:t>
            </a:r>
            <a:endParaRPr lang="es-CL" sz="2400" dirty="0"/>
          </a:p>
        </p:txBody>
      </p:sp>
      <p:pic>
        <p:nvPicPr>
          <p:cNvPr id="2" name="Picture 2" descr="EscuelaIT Duoc UC - Escuela de Informática y Telecomunicaciones Duoc UC - Duoc  UC | LinkedIn">
            <a:extLst>
              <a:ext uri="{FF2B5EF4-FFF2-40B4-BE49-F238E27FC236}">
                <a16:creationId xmlns:a16="http://schemas.microsoft.com/office/drawing/2014/main" id="{940DD14E-9A2F-BEB9-BA28-E596FDF87D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7963" y="4463247"/>
            <a:ext cx="4536009" cy="1144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196319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a 4">
            <a:extLst>
              <a:ext uri="{FF2B5EF4-FFF2-40B4-BE49-F238E27FC236}">
                <a16:creationId xmlns:a16="http://schemas.microsoft.com/office/drawing/2014/main" id="{CD98BAAD-E67E-3FB9-220F-BD3AA3645FAD}"/>
              </a:ext>
            </a:extLst>
          </p:cNvPr>
          <p:cNvGraphicFramePr/>
          <p:nvPr>
            <p:extLst>
              <p:ext uri="{D42A27DB-BD31-4B8C-83A1-F6EECF244321}">
                <p14:modId xmlns:p14="http://schemas.microsoft.com/office/powerpoint/2010/main" val="809683936"/>
              </p:ext>
            </p:extLst>
          </p:nvPr>
        </p:nvGraphicFramePr>
        <p:xfrm>
          <a:off x="4121026" y="1710819"/>
          <a:ext cx="7633494" cy="4350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“KUENTAS”</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238327" y="3058616"/>
            <a:ext cx="3608961" cy="1200329"/>
          </a:xfrm>
          <a:prstGeom prst="rect">
            <a:avLst/>
          </a:prstGeom>
          <a:noFill/>
        </p:spPr>
        <p:txBody>
          <a:bodyPr wrap="square" rtlCol="0">
            <a:spAutoFit/>
          </a:bodyPr>
          <a:lstStyle/>
          <a:p>
            <a:pPr algn="ctr"/>
            <a:r>
              <a:rPr lang="es-MX" sz="3600" dirty="0"/>
              <a:t>INTEGRANTES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81598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“KUENTAS”</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130849"/>
            <a:ext cx="12191999" cy="646331"/>
          </a:xfrm>
          <a:prstGeom prst="rect">
            <a:avLst/>
          </a:prstGeom>
          <a:noFill/>
        </p:spPr>
        <p:txBody>
          <a:bodyPr wrap="square" rtlCol="0">
            <a:spAutoFit/>
          </a:bodyPr>
          <a:lstStyle/>
          <a:p>
            <a:pPr algn="ctr"/>
            <a:r>
              <a:rPr lang="es-MX" sz="3600" dirty="0"/>
              <a:t>DESCRIPCIÓN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Rectángulo: esquinas redondeadas 2">
            <a:extLst>
              <a:ext uri="{FF2B5EF4-FFF2-40B4-BE49-F238E27FC236}">
                <a16:creationId xmlns:a16="http://schemas.microsoft.com/office/drawing/2014/main" id="{5CB288BD-84B1-DF16-6004-32D5F8A61FF7}"/>
              </a:ext>
            </a:extLst>
          </p:cNvPr>
          <p:cNvSpPr/>
          <p:nvPr/>
        </p:nvSpPr>
        <p:spPr>
          <a:xfrm>
            <a:off x="714909" y="2169769"/>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wrap="square"/>
          <a:lstStyle/>
          <a:p>
            <a:pPr lvl="0" algn="ctr"/>
            <a:r>
              <a:rPr lang="es-MX" sz="1600" u="sng" dirty="0" b="1">
                <a:solidFill>
                  <a:srgbClr val="44546A"/>
                </a:solidFill>
              </a:rPr>
              <a:t>Problema o dolor</a:t>
            </a:r>
          </a:p>
          <a:p>
            <a:pPr lvl="0" algn="l"/>
            <a:r>
              <a:rPr sz="1300">
                <a:solidFill>
                  <a:srgbClr val="333333"/>
                </a:solidFill>
              </a:rPr>
              <a:t>Consultoras contables y pymes en Chile siguen trabajando con software de escritorio heredado (MasContable) y planillas desconectadas.</a:t>
            </a:r>
            <a:endParaRPr lang="es-CL" sz="1800" u="sng" dirty="0"/>
          </a:p>
          <a:p>
            <a:pPr lvl="0" algn="l"/>
            <a:r>
              <a:rPr sz="1300">
                <a:solidFill>
                  <a:srgbClr val="333333"/>
                </a:solidFill>
              </a:rPr>
              <a:t>• Digitación repetitiva de asientos, sin validación automática de la partida doble.</a:t>
            </a:r>
            <a:endParaRPr lang="es-CL" sz="1800" u="sng" dirty="0"/>
          </a:p>
          <a:p>
            <a:pPr lvl="0" algn="l"/>
            <a:r>
              <a:rPr sz="1300">
                <a:solidFill>
                  <a:srgbClr val="333333"/>
                </a:solidFill>
              </a:rPr>
              <a:t>• Emitir los libros oficiales exige exportar y consolidar a mano, con riesgo de descuadres ante el SII.</a:t>
            </a:r>
            <a:endParaRPr lang="es-CL" sz="1800" u="sng" dirty="0"/>
          </a:p>
          <a:p>
            <a:pPr lvl="0" algn="l"/>
            <a:r>
              <a:rPr sz="1300">
                <a:solidFill>
                  <a:srgbClr val="333333"/>
                </a:solidFill>
              </a:rPr>
              <a:t>• Sistemas locales: sin acceso remoto, sin trabajo colaborativo y sin arquitectura multiempresa.</a:t>
            </a:r>
            <a:endParaRPr lang="es-CL" sz="1800" u="sng" dirty="0"/>
          </a:p>
        </p:txBody>
      </p:sp>
      <p:sp>
        <p:nvSpPr>
          <p:cNvPr id="4" name="Rectángulo: esquinas redondeadas 3">
            <a:extLst>
              <a:ext uri="{FF2B5EF4-FFF2-40B4-BE49-F238E27FC236}">
                <a16:creationId xmlns:a16="http://schemas.microsoft.com/office/drawing/2014/main" id="{DDC84C5C-77A0-B2A2-F0BB-8A7713B865EA}"/>
              </a:ext>
            </a:extLst>
          </p:cNvPr>
          <p:cNvSpPr/>
          <p:nvPr/>
        </p:nvSpPr>
        <p:spPr>
          <a:xfrm>
            <a:off x="6912079" y="2177325"/>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wrap="square"/>
          <a:lstStyle/>
          <a:p>
            <a:pPr lvl="0" algn="ctr"/>
            <a:r>
              <a:rPr lang="es-MX" sz="1600" u="sng" dirty="0" b="1">
                <a:solidFill>
                  <a:srgbClr val="44546A"/>
                </a:solidFill>
              </a:rPr>
              <a:t>Propuesta de solución</a:t>
            </a:r>
          </a:p>
          <a:p>
            <a:pPr lvl="0" algn="l"/>
            <a:r>
              <a:rPr lang="es-MX" dirty="0" sz="1300">
                <a:solidFill>
                  <a:srgbClr val="333333"/>
                </a:solidFill>
              </a:rPr>
              <a:t>Kuentas: plataforma web SaaS que replica el sistema original y automatiza el ciclo contable completo.</a:t>
            </a:r>
            <a:endParaRPr lang="es-CL" sz="1800" dirty="0"/>
          </a:p>
          <a:p>
            <a:pPr lvl="0" algn="l"/>
            <a:r>
              <a:rPr lang="es-MX" dirty="0" sz="1300">
                <a:solidFill>
                  <a:srgbClr val="333333"/>
                </a:solidFill>
              </a:rPr>
              <a:t>• Captura de comprobantes con cuadratura automática (Debe = Haber).</a:t>
            </a:r>
            <a:endParaRPr lang="es-CL" sz="1800" dirty="0"/>
          </a:p>
          <a:p>
            <a:pPr lvl="0" algn="l"/>
            <a:r>
              <a:rPr lang="es-MX" dirty="0" sz="1300">
                <a:solidFill>
                  <a:srgbClr val="333333"/>
                </a:solidFill>
              </a:rPr>
              <a:t>• Libros e informes en línea: Diario, Mayor, Compras y Ventas, Estado de Resultado y balances.</a:t>
            </a:r>
            <a:endParaRPr lang="es-CL" sz="1800" dirty="0"/>
          </a:p>
          <a:p>
            <a:pPr lvl="0" algn="l"/>
            <a:r>
              <a:rPr lang="es-MX" dirty="0" sz="1300">
                <a:solidFill>
                  <a:srgbClr val="333333"/>
                </a:solidFill>
              </a:rPr>
              <a:t>• Multiempresa con aislamiento de datos, desplegada en Google Cloud Platform.</a:t>
            </a:r>
            <a:endParaRPr lang="es-CL" sz="1800" dirty="0"/>
          </a:p>
        </p:txBody>
      </p:sp>
      <p:sp>
        <p:nvSpPr>
          <p:cNvPr id="8" name="Flecha: a la derecha 7">
            <a:extLst>
              <a:ext uri="{FF2B5EF4-FFF2-40B4-BE49-F238E27FC236}">
                <a16:creationId xmlns:a16="http://schemas.microsoft.com/office/drawing/2014/main" id="{E4B09E7F-FBE6-31BF-0C0F-DD32DBE05724}"/>
              </a:ext>
            </a:extLst>
          </p:cNvPr>
          <p:cNvSpPr/>
          <p:nvPr/>
        </p:nvSpPr>
        <p:spPr>
          <a:xfrm>
            <a:off x="5456903" y="3736258"/>
            <a:ext cx="1140542" cy="7570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7757307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“KUENTAS”</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384304"/>
            <a:ext cx="12191999" cy="646331"/>
          </a:xfrm>
          <a:prstGeom prst="rect">
            <a:avLst/>
          </a:prstGeom>
          <a:noFill/>
        </p:spPr>
        <p:txBody>
          <a:bodyPr wrap="square" rtlCol="0">
            <a:spAutoFit/>
          </a:bodyPr>
          <a:lstStyle/>
          <a:p>
            <a:pPr algn="ctr"/>
            <a:r>
              <a:rPr lang="es-MX" sz="3600" dirty="0"/>
              <a:t>Objetivo General</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733B57D9-BF13-9372-D021-14655CF00C4C}"/>
              </a:ext>
            </a:extLst>
          </p:cNvPr>
          <p:cNvSpPr txBox="1"/>
          <p:nvPr/>
        </p:nvSpPr>
        <p:spPr>
          <a:xfrm>
            <a:off x="1" y="4082446"/>
            <a:ext cx="12191999" cy="646331"/>
          </a:xfrm>
          <a:prstGeom prst="rect">
            <a:avLst/>
          </a:prstGeom>
          <a:noFill/>
        </p:spPr>
        <p:txBody>
          <a:bodyPr wrap="square" rtlCol="0">
            <a:spAutoFit/>
          </a:bodyPr>
          <a:lstStyle/>
          <a:p>
            <a:pPr algn="ctr"/>
            <a:r>
              <a:rPr lang="es-MX" sz="3600" dirty="0"/>
              <a:t>Objetivos Específicos</a:t>
            </a:r>
            <a:endParaRPr lang="es-CL" dirty="0"/>
          </a:p>
        </p:txBody>
      </p:sp>
      <p:sp>
        <p:nvSpPr>
          <p:cNvPr id="3" name="Rectángulo: esquinas redondeadas 2">
            <a:extLst>
              <a:ext uri="{FF2B5EF4-FFF2-40B4-BE49-F238E27FC236}">
                <a16:creationId xmlns:a16="http://schemas.microsoft.com/office/drawing/2014/main" id="{08D4A171-2FE3-5173-34E6-9DC3D74E7376}"/>
              </a:ext>
            </a:extLst>
          </p:cNvPr>
          <p:cNvSpPr/>
          <p:nvPr/>
        </p:nvSpPr>
        <p:spPr>
          <a:xfrm>
            <a:off x="614515" y="2040571"/>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l"/>
            <a:r>
              <a:rPr lang="es-MX" dirty="0" sz="1400">
                <a:solidFill>
                  <a:srgbClr val="333333"/>
                </a:solidFill>
              </a:rPr>
              <a:t>Desarrollar e integrar los módulos de libros contables oficiales y reportería financiera de la plataforma SaaS Kuentas, asegurando la cuadratura contable, la integridad de las transacciones y su despliegue operativo en la nube.</a:t>
            </a:r>
            <a:endParaRPr lang="es-CL" dirty="0"/>
          </a:p>
        </p:txBody>
      </p:sp>
      <p:sp>
        <p:nvSpPr>
          <p:cNvPr id="4" name="Rectángulo: esquinas redondeadas 3">
            <a:extLst>
              <a:ext uri="{FF2B5EF4-FFF2-40B4-BE49-F238E27FC236}">
                <a16:creationId xmlns:a16="http://schemas.microsoft.com/office/drawing/2014/main" id="{7E63425F-86F4-531E-E0F5-7A349604A51E}"/>
              </a:ext>
            </a:extLst>
          </p:cNvPr>
          <p:cNvSpPr/>
          <p:nvPr/>
        </p:nvSpPr>
        <p:spPr>
          <a:xfrm>
            <a:off x="614514" y="4732407"/>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l"/>
            <a:r>
              <a:rPr lang="es-MX" dirty="0" sz="1200">
                <a:solidFill>
                  <a:srgbClr val="333333"/>
                </a:solidFill>
              </a:rPr>
              <a:t>1.  Diseñar el modelo de datos de libros e informes, con aislamiento por empresa.</a:t>
            </a:r>
            <a:endParaRPr lang="es-CL" dirty="0"/>
          </a:p>
          <a:p>
            <a:pPr algn="l"/>
            <a:r>
              <a:rPr lang="es-MX" dirty="0" sz="1200">
                <a:solidFill>
                  <a:srgbClr val="333333"/>
                </a:solidFill>
              </a:rPr>
              <a:t>2.  Implementar los servicios y endpoints en NestJS con Prisma para procesar comprobantes y calcular saldos.</a:t>
            </a:r>
            <a:endParaRPr lang="es-CL" dirty="0"/>
          </a:p>
          <a:p>
            <a:pPr algn="l"/>
            <a:r>
              <a:rPr lang="es-MX" dirty="0" sz="1200">
                <a:solidFill>
                  <a:srgbClr val="333333"/>
                </a:solidFill>
              </a:rPr>
              <a:t>3.  Construir las vistas en Vue 3 con filtros por período, cuenta y centro de costo, y exportación de los libros.</a:t>
            </a:r>
            <a:endParaRPr lang="es-CL" dirty="0"/>
          </a:p>
          <a:p>
            <a:pPr algn="l"/>
            <a:r>
              <a:rPr lang="es-MX" dirty="0" sz="1200">
                <a:solidFill>
                  <a:srgbClr val="333333"/>
                </a:solidFill>
              </a:rPr>
              <a:t>4.  Validar la cuadratura contable con pruebas unitarias y de integración en el pipeline de CI.</a:t>
            </a:r>
            <a:endParaRPr lang="es-CL" dirty="0"/>
          </a:p>
          <a:p>
            <a:pPr algn="l"/>
            <a:r>
              <a:rPr lang="es-MX" dirty="0" sz="1200">
                <a:solidFill>
                  <a:srgbClr val="333333"/>
                </a:solidFill>
              </a:rPr>
              <a:t>5.  Desplegar la solución en Google Cloud Platform y documentar su uso.</a:t>
            </a:r>
            <a:endParaRPr lang="es-CL" dirty="0"/>
          </a:p>
        </p:txBody>
      </p:sp>
    </p:spTree>
    <p:extLst>
      <p:ext uri="{BB962C8B-B14F-4D97-AF65-F5344CB8AC3E}">
        <p14:creationId xmlns:p14="http://schemas.microsoft.com/office/powerpoint/2010/main" val="27176697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“KUENTAS”</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Alcances y limitaciones del proyecto</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027" name="TextBox 1026"/>
          <p:cNvSpPr txBox="1"/>
          <p:nvPr/>
        </p:nvSpPr>
        <p:spPr>
          <a:xfrm>
            <a:off x="640080" y="2148840"/>
            <a:ext cx="5349240" cy="365760"/>
          </a:xfrm>
          <a:prstGeom prst="rect">
            <a:avLst/>
          </a:prstGeom>
          <a:noFill/>
        </p:spPr>
        <p:txBody>
          <a:bodyPr wrap="square" lIns="45720" rIns="45720" tIns="0" bIns="0">
            <a:spAutoFit/>
          </a:bodyPr>
          <a:lstStyle/>
          <a:p>
            <a:pPr algn="l">
              <a:spcAft>
                <a:spcPts val="600"/>
              </a:spcAft>
            </a:pPr>
            <a:r>
              <a:rPr sz="1700" b="1">
                <a:solidFill>
                  <a:srgbClr val="4472C4"/>
                </a:solidFill>
                <a:latin typeface="Calibri"/>
              </a:rPr>
              <a:t>Alcances</a:t>
            </a:r>
          </a:p>
        </p:txBody>
      </p:sp>
      <p:sp>
        <p:nvSpPr>
          <p:cNvPr id="1028" name="TextBox 1027"/>
          <p:cNvSpPr txBox="1"/>
          <p:nvPr/>
        </p:nvSpPr>
        <p:spPr>
          <a:xfrm>
            <a:off x="640080" y="2606040"/>
            <a:ext cx="5349240" cy="3291840"/>
          </a:xfrm>
          <a:prstGeom prst="rect">
            <a:avLst/>
          </a:prstGeom>
          <a:noFill/>
        </p:spPr>
        <p:txBody>
          <a:bodyPr wrap="square" lIns="45720" rIns="45720" tIns="0" bIns="0">
            <a:spAutoFit/>
          </a:bodyPr>
          <a:lstStyle/>
          <a:p>
            <a:pPr algn="l">
              <a:spcAft>
                <a:spcPts val="600"/>
              </a:spcAft>
            </a:pPr>
            <a:r>
              <a:rPr sz="1300" b="0">
                <a:solidFill>
                  <a:srgbClr val="333333"/>
                </a:solidFill>
                <a:latin typeface="Calibri"/>
              </a:rPr>
              <a:t>• Clonación completa del catálogo de MasContable: 50 módulos con pantalla navegable.</a:t>
            </a:r>
          </a:p>
          <a:p>
            <a:pPr algn="l">
              <a:spcAft>
                <a:spcPts val="600"/>
              </a:spcAft>
            </a:pPr>
            <a:r>
              <a:rPr sz="1300" b="0">
                <a:solidFill>
                  <a:srgbClr val="333333"/>
                </a:solidFill>
                <a:latin typeface="Calibri"/>
              </a:rPr>
              <a:t>• Ciclo contable end-to-end: maestros, vouchers, libros oficiales e informes.</a:t>
            </a:r>
          </a:p>
          <a:p>
            <a:pPr algn="l">
              <a:spcAft>
                <a:spcPts val="600"/>
              </a:spcAft>
            </a:pPr>
            <a:r>
              <a:rPr sz="1300" b="0">
                <a:solidFill>
                  <a:srgbClr val="333333"/>
                </a:solidFill>
                <a:latin typeface="Calibri"/>
              </a:rPr>
              <a:t>• Plataforma multiempresa, con los datos de cada cliente aislados.</a:t>
            </a:r>
          </a:p>
          <a:p>
            <a:pPr algn="l">
              <a:spcAft>
                <a:spcPts val="600"/>
              </a:spcAft>
            </a:pPr>
            <a:r>
              <a:rPr sz="1300" b="0">
                <a:solidFill>
                  <a:srgbClr val="333333"/>
                </a:solidFill>
                <a:latin typeface="Calibri"/>
              </a:rPr>
              <a:t>• Despliegue continuo en Cloud Run, condicionado a que pasen las pruebas automatizadas.</a:t>
            </a:r>
          </a:p>
        </p:txBody>
      </p:sp>
      <p:sp>
        <p:nvSpPr>
          <p:cNvPr id="1029" name="TextBox 1028"/>
          <p:cNvSpPr txBox="1"/>
          <p:nvPr/>
        </p:nvSpPr>
        <p:spPr>
          <a:xfrm>
            <a:off x="6309360" y="2148840"/>
            <a:ext cx="5349240" cy="365760"/>
          </a:xfrm>
          <a:prstGeom prst="rect">
            <a:avLst/>
          </a:prstGeom>
          <a:noFill/>
        </p:spPr>
        <p:txBody>
          <a:bodyPr wrap="square" lIns="45720" rIns="45720" tIns="0" bIns="0">
            <a:spAutoFit/>
          </a:bodyPr>
          <a:lstStyle/>
          <a:p>
            <a:pPr algn="l">
              <a:spcAft>
                <a:spcPts val="600"/>
              </a:spcAft>
            </a:pPr>
            <a:r>
              <a:rPr sz="1700" b="1">
                <a:solidFill>
                  <a:srgbClr val="4472C4"/>
                </a:solidFill>
                <a:latin typeface="Calibri"/>
              </a:rPr>
              <a:t>Limitaciones</a:t>
            </a:r>
          </a:p>
        </p:txBody>
      </p:sp>
      <p:sp>
        <p:nvSpPr>
          <p:cNvPr id="1030" name="TextBox 1029"/>
          <p:cNvSpPr txBox="1"/>
          <p:nvPr/>
        </p:nvSpPr>
        <p:spPr>
          <a:xfrm>
            <a:off x="6309360" y="2606040"/>
            <a:ext cx="5349240" cy="3291840"/>
          </a:xfrm>
          <a:prstGeom prst="rect">
            <a:avLst/>
          </a:prstGeom>
          <a:noFill/>
        </p:spPr>
        <p:txBody>
          <a:bodyPr wrap="square" lIns="45720" rIns="45720" tIns="0" bIns="0">
            <a:spAutoFit/>
          </a:bodyPr>
          <a:lstStyle/>
          <a:p>
            <a:pPr algn="l">
              <a:spcAft>
                <a:spcPts val="600"/>
              </a:spcAft>
            </a:pPr>
            <a:r>
              <a:rPr sz="1300" b="0">
                <a:solidFill>
                  <a:srgbClr val="333333"/>
                </a:solidFill>
                <a:latin typeface="Calibri"/>
              </a:rPr>
              <a:t>• La conexión con el SII opera sobre un conector simulado; la integración real queda para la etapa siguiente.</a:t>
            </a:r>
          </a:p>
          <a:p>
            <a:pPr algn="l">
              <a:spcAft>
                <a:spcPts val="600"/>
              </a:spcAft>
            </a:pPr>
            <a:r>
              <a:rPr sz="1300" b="0">
                <a:solidFill>
                  <a:srgbClr val="333333"/>
                </a:solidFill>
                <a:latin typeface="Calibri"/>
              </a:rPr>
              <a:t>• Cinco especificaciones se entregaron como pantalla navegable sin lógica tributaria (declaración jurada de honorarios, reordenamiento y sincronizador SII).</a:t>
            </a:r>
          </a:p>
          <a:p>
            <a:pPr algn="l">
              <a:spcAft>
                <a:spcPts val="600"/>
              </a:spcAft>
            </a:pPr>
            <a:r>
              <a:rPr sz="1300" b="0">
                <a:solidFill>
                  <a:srgbClr val="333333"/>
                </a:solidFill>
                <a:latin typeface="Calibri"/>
              </a:rPr>
              <a:t>• Reglas de negocio finas del régimen 14 Ter y de la conciliación bancaria, a la espera de la validación del contador.</a:t>
            </a:r>
          </a:p>
          <a:p>
            <a:pPr algn="l">
              <a:spcAft>
                <a:spcPts val="600"/>
              </a:spcAft>
            </a:pPr>
            <a:r>
              <a:rPr sz="1300" b="0">
                <a:solidFill>
                  <a:srgbClr val="333333"/>
                </a:solidFill>
                <a:latin typeface="Calibri"/>
              </a:rPr>
              <a:t>• Los informes se exportan por impresión del navegador, no como PDF generado en el servidor.</a:t>
            </a:r>
          </a:p>
        </p:txBody>
      </p:sp>
    </p:spTree>
    <p:extLst>
      <p:ext uri="{BB962C8B-B14F-4D97-AF65-F5344CB8AC3E}">
        <p14:creationId xmlns:p14="http://schemas.microsoft.com/office/powerpoint/2010/main" val="329995646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“KUENTAS”</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Metodología de trabajo para el desarrollo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027" name="Rounded Rectangle 1026"/>
          <p:cNvSpPr/>
          <p:nvPr/>
        </p:nvSpPr>
        <p:spPr>
          <a:xfrm>
            <a:off x="658368" y="2240280"/>
            <a:ext cx="1600200" cy="8686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1">
                <a:solidFill>
                  <a:srgbClr val="44546A"/>
                </a:solidFill>
                <a:latin typeface="Calibri"/>
              </a:rPr>
              <a:t>Especificación
(SPEC)</a:t>
            </a:r>
          </a:p>
        </p:txBody>
      </p:sp>
      <p:sp>
        <p:nvSpPr>
          <p:cNvPr id="1028" name="Right Arrow 1027"/>
          <p:cNvSpPr/>
          <p:nvPr/>
        </p:nvSpPr>
        <p:spPr>
          <a:xfrm>
            <a:off x="2304288" y="2542032"/>
            <a:ext cx="27432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Rounded Rectangle 1028"/>
          <p:cNvSpPr/>
          <p:nvPr/>
        </p:nvSpPr>
        <p:spPr>
          <a:xfrm>
            <a:off x="2578608" y="2240280"/>
            <a:ext cx="1600200" cy="8686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1">
                <a:solidFill>
                  <a:srgbClr val="44546A"/>
                </a:solidFill>
                <a:latin typeface="Calibri"/>
              </a:rPr>
              <a:t>Modelo de datos</a:t>
            </a:r>
          </a:p>
        </p:txBody>
      </p:sp>
      <p:sp>
        <p:nvSpPr>
          <p:cNvPr id="1030" name="Right Arrow 1029"/>
          <p:cNvSpPr/>
          <p:nvPr/>
        </p:nvSpPr>
        <p:spPr>
          <a:xfrm>
            <a:off x="4224528" y="2542032"/>
            <a:ext cx="27432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Rounded Rectangle 1030"/>
          <p:cNvSpPr/>
          <p:nvPr/>
        </p:nvSpPr>
        <p:spPr>
          <a:xfrm>
            <a:off x="4498848" y="2240280"/>
            <a:ext cx="1600200" cy="8686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1">
                <a:solidFill>
                  <a:srgbClr val="44546A"/>
                </a:solidFill>
                <a:latin typeface="Calibri"/>
              </a:rPr>
              <a:t>Backend
NestJS</a:t>
            </a:r>
          </a:p>
        </p:txBody>
      </p:sp>
      <p:sp>
        <p:nvSpPr>
          <p:cNvPr id="1032" name="Right Arrow 1031"/>
          <p:cNvSpPr/>
          <p:nvPr/>
        </p:nvSpPr>
        <p:spPr>
          <a:xfrm>
            <a:off x="6144768" y="2542032"/>
            <a:ext cx="27432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Rounded Rectangle 1032"/>
          <p:cNvSpPr/>
          <p:nvPr/>
        </p:nvSpPr>
        <p:spPr>
          <a:xfrm>
            <a:off x="6419088" y="2240280"/>
            <a:ext cx="1600200" cy="8686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1">
                <a:solidFill>
                  <a:srgbClr val="44546A"/>
                </a:solidFill>
                <a:latin typeface="Calibri"/>
              </a:rPr>
              <a:t>Frontend
Vue 3</a:t>
            </a:r>
          </a:p>
        </p:txBody>
      </p:sp>
      <p:sp>
        <p:nvSpPr>
          <p:cNvPr id="1034" name="Right Arrow 1033"/>
          <p:cNvSpPr/>
          <p:nvPr/>
        </p:nvSpPr>
        <p:spPr>
          <a:xfrm>
            <a:off x="8065008" y="2542032"/>
            <a:ext cx="27432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Rounded Rectangle 1034"/>
          <p:cNvSpPr/>
          <p:nvPr/>
        </p:nvSpPr>
        <p:spPr>
          <a:xfrm>
            <a:off x="8339327" y="2240280"/>
            <a:ext cx="1600200" cy="8686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1">
                <a:solidFill>
                  <a:srgbClr val="44546A"/>
                </a:solidFill>
                <a:latin typeface="Calibri"/>
              </a:rPr>
              <a:t>Pruebas y
Pull Request</a:t>
            </a:r>
          </a:p>
        </p:txBody>
      </p:sp>
      <p:sp>
        <p:nvSpPr>
          <p:cNvPr id="1036" name="Right Arrow 1035"/>
          <p:cNvSpPr/>
          <p:nvPr/>
        </p:nvSpPr>
        <p:spPr>
          <a:xfrm>
            <a:off x="9985248" y="2542032"/>
            <a:ext cx="274320" cy="256032"/>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Rounded Rectangle 1036"/>
          <p:cNvSpPr/>
          <p:nvPr/>
        </p:nvSpPr>
        <p:spPr>
          <a:xfrm>
            <a:off x="10259567" y="2240280"/>
            <a:ext cx="1600200" cy="8686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1">
                <a:solidFill>
                  <a:srgbClr val="44546A"/>
                </a:solidFill>
                <a:latin typeface="Calibri"/>
              </a:rPr>
              <a:t>Despliegue
Cloud Run</a:t>
            </a:r>
          </a:p>
        </p:txBody>
      </p:sp>
      <p:sp>
        <p:nvSpPr>
          <p:cNvPr id="1038" name="TextBox 1037"/>
          <p:cNvSpPr txBox="1"/>
          <p:nvPr/>
        </p:nvSpPr>
        <p:spPr>
          <a:xfrm>
            <a:off x="658368" y="3429000"/>
            <a:ext cx="10881360" cy="2377440"/>
          </a:xfrm>
          <a:prstGeom prst="rect">
            <a:avLst/>
          </a:prstGeom>
          <a:noFill/>
        </p:spPr>
        <p:txBody>
          <a:bodyPr wrap="square" lIns="45720" rIns="45720" tIns="0" bIns="0">
            <a:spAutoFit/>
          </a:bodyPr>
          <a:lstStyle/>
          <a:p>
            <a:pPr algn="l">
              <a:spcAft>
                <a:spcPts val="700"/>
              </a:spcAft>
            </a:pPr>
            <a:r>
              <a:rPr sz="1300" b="0">
                <a:solidFill>
                  <a:srgbClr val="333333"/>
                </a:solidFill>
                <a:latin typeface="Calibri"/>
              </a:rPr>
              <a:t>• Spec-Driven Development: cada módulo parte de una especificación que define el modelo de datos, los endpoints y los criterios de aceptación.</a:t>
            </a:r>
          </a:p>
          <a:p>
            <a:pPr algn="l">
              <a:spcAft>
                <a:spcPts val="700"/>
              </a:spcAft>
            </a:pPr>
            <a:r>
              <a:rPr sz="1300" b="0">
                <a:solidFill>
                  <a:srgbClr val="333333"/>
                </a:solidFill>
                <a:latin typeface="Calibri"/>
              </a:rPr>
              <a:t>• Una rama por especificación, con Pull Request revisado por el otro integrante: 72 PR integrados a la rama principal.</a:t>
            </a:r>
          </a:p>
          <a:p>
            <a:pPr algn="l">
              <a:spcAft>
                <a:spcPts val="700"/>
              </a:spcAft>
            </a:pPr>
            <a:r>
              <a:rPr sz="1300" b="0">
                <a:solidFill>
                  <a:srgbClr val="333333"/>
                </a:solidFill>
                <a:latin typeface="Calibri"/>
              </a:rPr>
              <a:t>• Pruebas en Vitest obligatorias; el pipeline de integración continua condiciona el despliegue a Cloud Run.</a:t>
            </a:r>
          </a:p>
          <a:p>
            <a:pPr algn="l">
              <a:spcAft>
                <a:spcPts val="700"/>
              </a:spcAft>
            </a:pPr>
            <a:r>
              <a:rPr sz="1300" b="0">
                <a:solidFill>
                  <a:srgbClr val="333333"/>
                </a:solidFill>
                <a:latin typeface="Calibri"/>
              </a:rPr>
              <a:t>• Validación funcional de las reglas contables con el contador consultor del equipo.</a:t>
            </a:r>
          </a:p>
          <a:p>
            <a:pPr algn="l">
              <a:spcAft>
                <a:spcPts val="700"/>
              </a:spcAft>
            </a:pPr>
            <a:r>
              <a:rPr sz="1300" b="0">
                <a:solidFill>
                  <a:srgbClr val="333333"/>
                </a:solidFill>
                <a:latin typeface="Calibri"/>
              </a:rPr>
              <a:t>• Mismo rol para ambos: cada integrante toma specs completas, de backend y frontend, revisa los Pull Requests del otro y documenta.</a:t>
            </a:r>
          </a:p>
        </p:txBody>
      </p:sp>
    </p:spTree>
    <p:extLst>
      <p:ext uri="{BB962C8B-B14F-4D97-AF65-F5344CB8AC3E}">
        <p14:creationId xmlns:p14="http://schemas.microsoft.com/office/powerpoint/2010/main" val="396419974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“KUENTAS”</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1155656"/>
            <a:ext cx="12191999" cy="892552"/>
          </a:xfrm>
          <a:prstGeom prst="rect">
            <a:avLst/>
          </a:prstGeom>
          <a:noFill/>
        </p:spPr>
        <p:txBody>
          <a:bodyPr wrap="square" rtlCol="0">
            <a:spAutoFit/>
          </a:bodyPr>
          <a:lstStyle/>
          <a:p>
            <a:pPr algn="ctr"/>
            <a:r>
              <a:rPr lang="es-MX" sz="3600" dirty="0"/>
              <a:t>Cronograma para el desarrollo del proyecto</a:t>
            </a:r>
          </a:p>
          <a:p>
            <a:pPr algn="ctr"/>
            <a:r>
              <a:rPr lang="es-MX" sz="1600" dirty="0">
                <a:solidFill>
                  <a:schemeClr val="bg2">
                    <a:lumMod val="50000"/>
                  </a:schemeClr>
                </a:solidFill>
              </a:rPr>
              <a:t>* Utilizar cronograma de inicio, indicando el cumplimiento al término del proyecto </a:t>
            </a:r>
            <a:endParaRPr lang="es-CL" sz="1000" dirty="0">
              <a:solidFill>
                <a:schemeClr val="bg2">
                  <a:lumMod val="50000"/>
                </a:schemeClr>
              </a:solidFill>
            </a:endParaRP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aphicFrame>
        <p:nvGraphicFramePr>
          <p:cNvPr id="4" name="Tabla 3">
            <a:extLst>
              <a:ext uri="{FF2B5EF4-FFF2-40B4-BE49-F238E27FC236}">
                <a16:creationId xmlns:a16="http://schemas.microsoft.com/office/drawing/2014/main" id="{7BB5CADE-DDA2-A4F7-629E-7AEEB49F57D7}"/>
              </a:ext>
            </a:extLst>
          </p:cNvPr>
          <p:cNvGraphicFramePr>
            <a:graphicFrameLocks noGrp="1"/>
          </p:cNvGraphicFramePr>
          <p:nvPr>
            <p:extLst>
              <p:ext uri="{D42A27DB-BD31-4B8C-83A1-F6EECF244321}">
                <p14:modId xmlns:p14="http://schemas.microsoft.com/office/powerpoint/2010/main" val="3560750566"/>
              </p:ext>
            </p:extLst>
          </p:nvPr>
        </p:nvGraphicFramePr>
        <p:xfrm>
          <a:off x="1248696" y="2595717"/>
          <a:ext cx="10235372" cy="3350985"/>
        </p:xfrm>
        <a:graphic>
          <a:graphicData uri="http://schemas.openxmlformats.org/drawingml/2006/table">
            <a:tbl>
              <a:tblPr firstRow="1" firstCol="1" bandRow="1"/>
              <a:tblGrid>
                <a:gridCol w="1245540">
                  <a:extLst>
                    <a:ext uri="{9D8B030D-6E8A-4147-A177-3AD203B41FA5}">
                      <a16:colId xmlns:a16="http://schemas.microsoft.com/office/drawing/2014/main" val="1385875515"/>
                    </a:ext>
                  </a:extLst>
                </a:gridCol>
                <a:gridCol w="378676">
                  <a:extLst>
                    <a:ext uri="{9D8B030D-6E8A-4147-A177-3AD203B41FA5}">
                      <a16:colId xmlns:a16="http://schemas.microsoft.com/office/drawing/2014/main" val="3026825544"/>
                    </a:ext>
                  </a:extLst>
                </a:gridCol>
                <a:gridCol w="378676">
                  <a:extLst>
                    <a:ext uri="{9D8B030D-6E8A-4147-A177-3AD203B41FA5}">
                      <a16:colId xmlns:a16="http://schemas.microsoft.com/office/drawing/2014/main" val="3982458150"/>
                    </a:ext>
                  </a:extLst>
                </a:gridCol>
                <a:gridCol w="378676">
                  <a:extLst>
                    <a:ext uri="{9D8B030D-6E8A-4147-A177-3AD203B41FA5}">
                      <a16:colId xmlns:a16="http://schemas.microsoft.com/office/drawing/2014/main" val="2813336322"/>
                    </a:ext>
                  </a:extLst>
                </a:gridCol>
                <a:gridCol w="378676">
                  <a:extLst>
                    <a:ext uri="{9D8B030D-6E8A-4147-A177-3AD203B41FA5}">
                      <a16:colId xmlns:a16="http://schemas.microsoft.com/office/drawing/2014/main" val="666810208"/>
                    </a:ext>
                  </a:extLst>
                </a:gridCol>
                <a:gridCol w="378676">
                  <a:extLst>
                    <a:ext uri="{9D8B030D-6E8A-4147-A177-3AD203B41FA5}">
                      <a16:colId xmlns:a16="http://schemas.microsoft.com/office/drawing/2014/main" val="441682826"/>
                    </a:ext>
                  </a:extLst>
                </a:gridCol>
                <a:gridCol w="378676">
                  <a:extLst>
                    <a:ext uri="{9D8B030D-6E8A-4147-A177-3AD203B41FA5}">
                      <a16:colId xmlns:a16="http://schemas.microsoft.com/office/drawing/2014/main" val="1853034618"/>
                    </a:ext>
                  </a:extLst>
                </a:gridCol>
                <a:gridCol w="378676">
                  <a:extLst>
                    <a:ext uri="{9D8B030D-6E8A-4147-A177-3AD203B41FA5}">
                      <a16:colId xmlns:a16="http://schemas.microsoft.com/office/drawing/2014/main" val="161666760"/>
                    </a:ext>
                  </a:extLst>
                </a:gridCol>
                <a:gridCol w="378676">
                  <a:extLst>
                    <a:ext uri="{9D8B030D-6E8A-4147-A177-3AD203B41FA5}">
                      <a16:colId xmlns:a16="http://schemas.microsoft.com/office/drawing/2014/main" val="2597728732"/>
                    </a:ext>
                  </a:extLst>
                </a:gridCol>
                <a:gridCol w="378676">
                  <a:extLst>
                    <a:ext uri="{9D8B030D-6E8A-4147-A177-3AD203B41FA5}">
                      <a16:colId xmlns:a16="http://schemas.microsoft.com/office/drawing/2014/main" val="3367593723"/>
                    </a:ext>
                  </a:extLst>
                </a:gridCol>
                <a:gridCol w="378676">
                  <a:extLst>
                    <a:ext uri="{9D8B030D-6E8A-4147-A177-3AD203B41FA5}">
                      <a16:colId xmlns:a16="http://schemas.microsoft.com/office/drawing/2014/main" val="1610561930"/>
                    </a:ext>
                  </a:extLst>
                </a:gridCol>
                <a:gridCol w="378676">
                  <a:extLst>
                    <a:ext uri="{9D8B030D-6E8A-4147-A177-3AD203B41FA5}">
                      <a16:colId xmlns:a16="http://schemas.microsoft.com/office/drawing/2014/main" val="4078685469"/>
                    </a:ext>
                  </a:extLst>
                </a:gridCol>
                <a:gridCol w="378676">
                  <a:extLst>
                    <a:ext uri="{9D8B030D-6E8A-4147-A177-3AD203B41FA5}">
                      <a16:colId xmlns:a16="http://schemas.microsoft.com/office/drawing/2014/main" val="1033199576"/>
                    </a:ext>
                  </a:extLst>
                </a:gridCol>
                <a:gridCol w="378676">
                  <a:extLst>
                    <a:ext uri="{9D8B030D-6E8A-4147-A177-3AD203B41FA5}">
                      <a16:colId xmlns:a16="http://schemas.microsoft.com/office/drawing/2014/main" val="3244852290"/>
                    </a:ext>
                  </a:extLst>
                </a:gridCol>
                <a:gridCol w="378676">
                  <a:extLst>
                    <a:ext uri="{9D8B030D-6E8A-4147-A177-3AD203B41FA5}">
                      <a16:colId xmlns:a16="http://schemas.microsoft.com/office/drawing/2014/main" val="2661357519"/>
                    </a:ext>
                  </a:extLst>
                </a:gridCol>
                <a:gridCol w="378676">
                  <a:extLst>
                    <a:ext uri="{9D8B030D-6E8A-4147-A177-3AD203B41FA5}">
                      <a16:colId xmlns:a16="http://schemas.microsoft.com/office/drawing/2014/main" val="1629908258"/>
                    </a:ext>
                  </a:extLst>
                </a:gridCol>
                <a:gridCol w="378676">
                  <a:extLst>
                    <a:ext uri="{9D8B030D-6E8A-4147-A177-3AD203B41FA5}">
                      <a16:colId xmlns:a16="http://schemas.microsoft.com/office/drawing/2014/main" val="2147780406"/>
                    </a:ext>
                  </a:extLst>
                </a:gridCol>
                <a:gridCol w="140136">
                  <a:extLst>
                    <a:ext uri="{9D8B030D-6E8A-4147-A177-3AD203B41FA5}">
                      <a16:colId xmlns:a16="http://schemas.microsoft.com/office/drawing/2014/main" val="2368806540"/>
                    </a:ext>
                  </a:extLst>
                </a:gridCol>
                <a:gridCol w="378676">
                  <a:extLst>
                    <a:ext uri="{9D8B030D-6E8A-4147-A177-3AD203B41FA5}">
                      <a16:colId xmlns:a16="http://schemas.microsoft.com/office/drawing/2014/main" val="3867265020"/>
                    </a:ext>
                  </a:extLst>
                </a:gridCol>
                <a:gridCol w="378676">
                  <a:extLst>
                    <a:ext uri="{9D8B030D-6E8A-4147-A177-3AD203B41FA5}">
                      <a16:colId xmlns:a16="http://schemas.microsoft.com/office/drawing/2014/main" val="3959863927"/>
                    </a:ext>
                  </a:extLst>
                </a:gridCol>
                <a:gridCol w="140136">
                  <a:extLst>
                    <a:ext uri="{9D8B030D-6E8A-4147-A177-3AD203B41FA5}">
                      <a16:colId xmlns:a16="http://schemas.microsoft.com/office/drawing/2014/main" val="366369285"/>
                    </a:ext>
                  </a:extLst>
                </a:gridCol>
                <a:gridCol w="378676">
                  <a:extLst>
                    <a:ext uri="{9D8B030D-6E8A-4147-A177-3AD203B41FA5}">
                      <a16:colId xmlns:a16="http://schemas.microsoft.com/office/drawing/2014/main" val="441682826"/>
                    </a:ext>
                  </a:extLst>
                </a:gridCol>
                <a:gridCol w="378676">
                  <a:extLst>
                    <a:ext uri="{9D8B030D-6E8A-4147-A177-3AD203B41FA5}">
                      <a16:colId xmlns:a16="http://schemas.microsoft.com/office/drawing/2014/main" val="441682826"/>
                    </a:ext>
                  </a:extLst>
                </a:gridCol>
                <a:gridCol w="378676">
                  <a:extLst>
                    <a:ext uri="{9D8B030D-6E8A-4147-A177-3AD203B41FA5}">
                      <a16:colId xmlns:a16="http://schemas.microsoft.com/office/drawing/2014/main" val="441682826"/>
                    </a:ext>
                  </a:extLst>
                </a:gridCol>
                <a:gridCol w="378676">
                  <a:extLst>
                    <a:ext uri="{9D8B030D-6E8A-4147-A177-3AD203B41FA5}">
                      <a16:colId xmlns:a16="http://schemas.microsoft.com/office/drawing/2014/main" val="441682826"/>
                    </a:ext>
                  </a:extLst>
                </a:gridCol>
                <a:gridCol w="378676">
                  <a:extLst>
                    <a:ext uri="{9D8B030D-6E8A-4147-A177-3AD203B41FA5}">
                      <a16:colId xmlns:a16="http://schemas.microsoft.com/office/drawing/2014/main" val="441682826"/>
                    </a:ext>
                  </a:extLst>
                </a:gridCol>
              </a:tblGrid>
              <a:tr h="524466">
                <a:tc rowSpan="2">
                  <a:txBody>
                    <a:bodyPr wrap="none"/>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Actividad</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4">
                  <a:txBody>
                    <a:bodyPr/>
                    <a:lstStyle/>
                    <a:p>
                      <a:pPr algn="ctr">
                        <a:lnSpc>
                          <a:spcPct val="150000"/>
                        </a:lnSpc>
                        <a:spcAft>
                          <a:spcPts val="800"/>
                        </a:spcAft>
                      </a:pPr>
                      <a:r>
                        <a:rPr lang="es-CL" sz="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Fase 1</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2EFD9"/>
                    </a:solidFill>
                  </a:tcPr>
                </a:tc>
                <a:tc hMerge="1">
                  <a:txBody>
                    <a:bodyPr/>
                    <a:lstStyle/>
                    <a:p>
                      <a:endParaRPr lang="es-CL"/>
                    </a:p>
                  </a:txBody>
                  <a:tcPr/>
                </a:tc>
                <a:tc hMerge="1">
                  <a:txBody>
                    <a:bodyPr/>
                    <a:lstStyle/>
                    <a:p>
                      <a:endParaRPr lang="es-CL"/>
                    </a:p>
                  </a:txBody>
                  <a:tcPr/>
                </a:tc>
                <a:tc hMerge="1">
                  <a:txBody>
                    <a:bodyPr/>
                    <a:lstStyle/>
                    <a:p>
                      <a:endParaRPr lang="es-CL"/>
                    </a:p>
                  </a:txBody>
                  <a:tcPr/>
                </a:tc>
                <a:tc gridSpan="12">
                  <a:txBody>
                    <a:bodyPr/>
                    <a:lstStyle/>
                    <a:p>
                      <a:pPr algn="ctr">
                        <a:lnSpc>
                          <a:spcPct val="150000"/>
                        </a:lnSpc>
                        <a:spcAft>
                          <a:spcPts val="800"/>
                        </a:spcAft>
                      </a:pPr>
                      <a:r>
                        <a:rPr lang="es-CL" sz="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Fase 2</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2CC"/>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gridSpan="4">
                  <a:txBody>
                    <a:bodyPr/>
                    <a:lstStyle/>
                    <a:p>
                      <a:pPr algn="ctr">
                        <a:lnSpc>
                          <a:spcPct val="150000"/>
                        </a:lnSpc>
                        <a:spcAft>
                          <a:spcPts val="800"/>
                        </a:spcAft>
                      </a:pPr>
                      <a:r>
                        <a:rPr lang="es-CL" sz="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Fase 3</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BE4D5"/>
                    </a:solidFill>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653283734"/>
                  </a:ext>
                </a:extLst>
                <a:tc gridSpan="5">
                  <a:txBody>
                    <a:bodyPr/>
                    <a:lstStyle/>
                    <a:p>
                      <a:r>
                        <a:rPr sz="900" b="1"/>
                        <a:t>Posterior al semestre</a:t>
                      </a:r>
                      <a:endParaRPr lang="es-CL"/>
                    </a:p>
                  </a:txBody>
                  <a:tcPr>
                    <a:solidFill>
                      <a:srgbClr val="F2F2F2"/>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r>
              <a:tr h="540519">
                <a:tc vMerge="1">
                  <a:txBody>
                    <a:bodyPr wrap="none"/>
                    <a:lstStyle/>
                    <a:p>
                      <a:endParaRPr lang="es-CL"/>
                    </a:p>
                  </a:txBody>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2</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3</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4</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5</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6</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7</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8</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9</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10</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11</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12</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13</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14</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15</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gridSpan="2">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16</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hMerge="1">
                  <a:txBody>
                    <a:bodyPr/>
                    <a:lstStyle/>
                    <a:p>
                      <a:endParaRPr lang="es-CL"/>
                    </a:p>
                  </a:txBody>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17</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18</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w="12700" cap="flat" cmpd="sng" algn="ctr">
                      <a:solidFill>
                        <a:srgbClr val="BFBFBF"/>
                      </a:solidFill>
                      <a:prstDash val="solid"/>
                      <a:round/>
                      <a:headEnd type="none" w="med" len="med"/>
                      <a:tailEnd type="none" w="med" len="med"/>
                    </a:lnT>
                    <a:lnB>
                      <a:noFill/>
                    </a:lnB>
                  </a:tcPr>
                </a:tc>
                <a:extLst>
                  <a:ext uri="{0D108BD9-81ED-4DB2-BD59-A6C34878D82A}">
                    <a16:rowId xmlns:a16="http://schemas.microsoft.com/office/drawing/2014/main" val="3420616602"/>
                  </a:ext>
                </a:extLst>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19</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20</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21</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22</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S 23</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28600">
                <a:tc>
                  <a:txBody>
                    <a:bodyPr wrap="none"/>
                    <a:lstStyle/>
                    <a:p>
                      <a:pPr algn="just">
                        <a:lnSpc>
                          <a:spcPct val="150000"/>
                        </a:lnSpc>
                        <a:spcAft>
                          <a:spcPts val="800"/>
                        </a:spcAft>
                      </a:pPr>
                      <a:r>
                        <a:rPr lang="es-CL" sz="850" b="1">
                          <a:effectLst/>
                          <a:latin typeface="Calibri" panose="020F0502020204030204" pitchFamily="34" charset="0"/>
                          <a:ea typeface="Calibri" panose="020F0502020204030204" pitchFamily="34" charset="0"/>
                          <a:cs typeface="Times New Roman" panose="02020603050405020304" pitchFamily="18" charset="0"/>
                        </a:rPr>
                        <a:t>Análisis y modelado</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27432" marT="9144" marB="9144">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228600">
                <a:tc>
                  <a:txBody>
                    <a:bodyPr wrap="none"/>
                    <a:lstStyle/>
                    <a:p>
                      <a:pPr algn="just">
                        <a:lnSpc>
                          <a:spcPct val="150000"/>
                        </a:lnSpc>
                        <a:spcAft>
                          <a:spcPts val="800"/>
                        </a:spcAft>
                      </a:pPr>
                      <a:r>
                        <a:rPr lang="es-CL" sz="850" b="1">
                          <a:effectLst/>
                          <a:latin typeface="Calibri" panose="020F0502020204030204" pitchFamily="34" charset="0"/>
                          <a:ea typeface="Calibri" panose="020F0502020204030204" pitchFamily="34" charset="0"/>
                          <a:cs typeface="Times New Roman" panose="02020603050405020304" pitchFamily="18" charset="0"/>
                        </a:rPr>
                        <a:t>Fase 1 · Maestros base</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27432" marT="9144" marB="9144">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228600">
                <a:tc>
                  <a:txBody>
                    <a:bodyPr wrap="none"/>
                    <a:lstStyle/>
                    <a:p>
                      <a:pPr algn="just">
                        <a:lnSpc>
                          <a:spcPct val="150000"/>
                        </a:lnSpc>
                        <a:spcAft>
                          <a:spcPts val="800"/>
                        </a:spcAft>
                      </a:pPr>
                      <a:r>
                        <a:rPr lang="es-CL" sz="850" b="1">
                          <a:effectLst/>
                          <a:latin typeface="Calibri" panose="020F0502020204030204" pitchFamily="34" charset="0"/>
                          <a:ea typeface="Calibri" panose="020F0502020204030204" pitchFamily="34" charset="0"/>
                          <a:cs typeface="Times New Roman" panose="02020603050405020304" pitchFamily="18" charset="0"/>
                        </a:rPr>
                        <a:t>Fase 2 · Captura</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27432" marT="9144" marB="9144">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228600">
                <a:tc>
                  <a:txBody>
                    <a:bodyPr wrap="none"/>
                    <a:lstStyle/>
                    <a:p>
                      <a:pPr algn="just">
                        <a:lnSpc>
                          <a:spcPct val="150000"/>
                        </a:lnSpc>
                        <a:spcAft>
                          <a:spcPts val="800"/>
                        </a:spcAft>
                      </a:pPr>
                      <a:r>
                        <a:rPr lang="es-CL" sz="850" b="1">
                          <a:effectLst/>
                          <a:latin typeface="Calibri" panose="020F0502020204030204" pitchFamily="34" charset="0"/>
                          <a:ea typeface="Calibri" panose="020F0502020204030204" pitchFamily="34" charset="0"/>
                          <a:cs typeface="Times New Roman" panose="02020603050405020304" pitchFamily="18" charset="0"/>
                        </a:rPr>
                        <a:t>Fase 3 · Libros e informes</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27432" marT="9144" marB="9144">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228600">
                <a:tc>
                  <a:txBody>
                    <a:bodyPr wrap="none"/>
                    <a:lstStyle/>
                    <a:p>
                      <a:pPr algn="just">
                        <a:lnSpc>
                          <a:spcPct val="150000"/>
                        </a:lnSpc>
                        <a:spcAft>
                          <a:spcPts val="800"/>
                        </a:spcAft>
                      </a:pPr>
                      <a:r>
                        <a:rPr lang="es-CL" sz="850" b="1">
                          <a:effectLst/>
                          <a:latin typeface="Calibri" panose="020F0502020204030204" pitchFamily="34" charset="0"/>
                          <a:ea typeface="Calibri" panose="020F0502020204030204" pitchFamily="34" charset="0"/>
                          <a:cs typeface="Times New Roman" panose="02020603050405020304" pitchFamily="18" charset="0"/>
                        </a:rPr>
                        <a:t>Fases 4 a 6 · Clonación</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27432" marT="9144" marB="9144">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228600">
                <a:tc>
                  <a:txBody>
                    <a:bodyPr wrap="none"/>
                    <a:lstStyle/>
                    <a:p>
                      <a:pPr algn="just">
                        <a:lnSpc>
                          <a:spcPct val="150000"/>
                        </a:lnSpc>
                        <a:spcAft>
                          <a:spcPts val="800"/>
                        </a:spcAft>
                      </a:pPr>
                      <a:r>
                        <a:rPr lang="es-CL" sz="850" b="1">
                          <a:effectLst/>
                          <a:latin typeface="Calibri" panose="020F0502020204030204" pitchFamily="34" charset="0"/>
                          <a:ea typeface="Calibri" panose="020F0502020204030204" pitchFamily="34" charset="0"/>
                          <a:cs typeface="Times New Roman" panose="02020603050405020304" pitchFamily="18" charset="0"/>
                        </a:rPr>
                        <a:t>Fase 7 · Integración SII</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27432" marT="9144" marB="9144">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228600">
                <a:tc>
                  <a:txBody>
                    <a:bodyPr wrap="none"/>
                    <a:lstStyle/>
                    <a:p>
                      <a:pPr algn="just">
                        <a:lnSpc>
                          <a:spcPct val="150000"/>
                        </a:lnSpc>
                        <a:spcAft>
                          <a:spcPts val="800"/>
                        </a:spcAft>
                      </a:pPr>
                      <a:r>
                        <a:rPr lang="es-CL" sz="850" b="1">
                          <a:effectLst/>
                          <a:latin typeface="Calibri" panose="020F0502020204030204" pitchFamily="34" charset="0"/>
                          <a:ea typeface="Calibri" panose="020F0502020204030204" pitchFamily="34" charset="0"/>
                          <a:cs typeface="Times New Roman" panose="02020603050405020304" pitchFamily="18" charset="0"/>
                        </a:rPr>
                        <a:t>Fase 7 · Frontend y RRHH</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27432" marT="9144" marB="9144">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228600">
                <a:tc>
                  <a:txBody>
                    <a:bodyPr wrap="none"/>
                    <a:lstStyle/>
                    <a:p>
                      <a:pPr algn="just">
                        <a:lnSpc>
                          <a:spcPct val="150000"/>
                        </a:lnSpc>
                        <a:spcAft>
                          <a:spcPts val="800"/>
                        </a:spcAft>
                      </a:pPr>
                      <a:r>
                        <a:rPr lang="es-CL" sz="850" b="1">
                          <a:effectLst/>
                          <a:latin typeface="Calibri" panose="020F0502020204030204" pitchFamily="34" charset="0"/>
                          <a:ea typeface="Calibri" panose="020F0502020204030204" pitchFamily="34" charset="0"/>
                          <a:cs typeface="Times New Roman" panose="02020603050405020304" pitchFamily="18" charset="0"/>
                        </a:rPr>
                        <a:t>Marcha blanca</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27432" marT="9144" marB="9144">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7D31"/>
                    </a:solidFill>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7D31"/>
                    </a:solidFill>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7D31"/>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7D31"/>
                    </a:solidFill>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7D31"/>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7D31"/>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7D31"/>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D7D31"/>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228600">
                <a:tc>
                  <a:txBody>
                    <a:bodyPr wrap="none"/>
                    <a:lstStyle/>
                    <a:p>
                      <a:pPr algn="just">
                        <a:lnSpc>
                          <a:spcPct val="150000"/>
                        </a:lnSpc>
                        <a:spcAft>
                          <a:spcPts val="800"/>
                        </a:spcAft>
                      </a:pPr>
                      <a:r>
                        <a:rPr lang="es-CL" sz="850" b="1">
                          <a:effectLst/>
                          <a:latin typeface="Calibri" panose="020F0502020204030204" pitchFamily="34" charset="0"/>
                          <a:ea typeface="Calibri" panose="020F0502020204030204" pitchFamily="34" charset="0"/>
                          <a:cs typeface="Times New Roman" panose="02020603050405020304" pitchFamily="18" charset="0"/>
                        </a:rPr>
                        <a:t>QA, despliegue y cierre</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27432" marT="9144" marB="9144">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8FAADC"/>
                    </a:solidFill>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228600">
                <a:tc>
                  <a:txBody>
                    <a:bodyPr wrap="none"/>
                    <a:lstStyle/>
                    <a:p>
                      <a:pPr algn="just">
                        <a:lnSpc>
                          <a:spcPct val="150000"/>
                        </a:lnSpc>
                        <a:spcAft>
                          <a:spcPts val="800"/>
                        </a:spcAft>
                      </a:pPr>
                      <a:r>
                        <a:rPr lang="es-CL" sz="850" b="1">
                          <a:effectLst/>
                          <a:latin typeface="Calibri" panose="020F0502020204030204" pitchFamily="34" charset="0"/>
                          <a:ea typeface="Calibri" panose="020F0502020204030204" pitchFamily="34" charset="0"/>
                          <a:cs typeface="Times New Roman" panose="02020603050405020304" pitchFamily="18" charset="0"/>
                        </a:rPr>
                        <a:t>Lanzamiento oficial</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45720" marR="27432" marT="9144" marB="9144">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gridSpan="2">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hMerge="1">
                  <a:txBody>
                    <a:bodyPr/>
                    <a:lstStyle/>
                    <a:p>
                      <a:endParaRPr lang="es-CL"/>
                    </a:p>
                  </a:txBody>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pPr>
                      <a:r>
                        <a:rPr lang="es-CL" sz="1100">
                          <a:effectLst/>
                          <a:latin typeface="Calibri" panose="020F0502020204030204" pitchFamily="34" charset="0"/>
                          <a:ea typeface="Calibri" panose="020F0502020204030204" pitchFamily="34" charset="0"/>
                          <a:cs typeface="Times New Roman" panose="02020603050405020304" pitchFamily="18" charset="0"/>
                        </a:rPr>
                        <a:t> </a:t>
                      </a:r>
                    </a:p>
                  </a:txBody>
                  <a:tcPr marL="0" marR="0" marT="0" marB="0" anchor="ctr">
                    <a:lnL w="12700" cap="flat" cmpd="sng" algn="ctr">
                      <a:solidFill>
                        <a:srgbClr val="BFBFBF"/>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31361947"/>
                  </a:ext>
                </a:extLst>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just">
                        <a:lnSpc>
                          <a:spcPct val="150000"/>
                        </a:lnSpc>
                        <a:spcAft>
                          <a:spcPts val="800"/>
                        </a:spcAft>
                      </a:pPr>
                      <a:r>
                        <a:rPr lang="es-CL" sz="800" b="1">
                          <a:effectLst/>
                          <a:latin typeface="Calibri" panose="020F0502020204030204" pitchFamily="34" charset="0"/>
                          <a:ea typeface="Calibri" panose="020F0502020204030204" pitchFamily="34" charset="0"/>
                          <a:cs typeface="Times New Roman" panose="02020603050405020304" pitchFamily="18" charset="0"/>
                        </a:rPr>
                        <a:t/>
                      </a:r>
                      <a:endParaRPr lang="es-CL"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2E7D32"/>
                    </a:solidFill>
                  </a:tcPr>
                </a:tc>
              </a:tr>
            </a:tbl>
          </a:graphicData>
        </a:graphic>
      </p:graphicFrame>
      <p:sp>
        <p:nvSpPr>
          <p:cNvPr id="1027" name="TextBox 1026"/>
          <p:cNvSpPr txBox="1"/>
          <p:nvPr/>
        </p:nvSpPr>
        <p:spPr>
          <a:xfrm>
            <a:off x="1252728" y="6473952"/>
            <a:ext cx="10241280" cy="274320"/>
          </a:xfrm>
          <a:prstGeom prst="rect">
            <a:avLst/>
          </a:prstGeom>
          <a:noFill/>
        </p:spPr>
        <p:txBody>
          <a:bodyPr wrap="square" lIns="45720" rIns="45720" tIns="0" bIns="0">
            <a:spAutoFit/>
          </a:bodyPr>
          <a:lstStyle/>
          <a:p>
            <a:pPr algn="l">
              <a:spcAft>
                <a:spcPts val="600"/>
              </a:spcAft>
            </a:pPr>
            <a:r>
              <a:rPr sz="950">
                <a:solidFill>
                  <a:srgbClr val="333333"/>
                </a:solidFill>
                <a:latin typeface="Calibri"/>
                <a:highlight>
                  <a:srgbClr val="1F3864"/>
                </a:highlight>
              </a:rPr>
              <a:t>   </a:t>
            </a:r>
            <a:r>
              <a:rPr sz="950">
                <a:solidFill>
                  <a:srgbClr val="333333"/>
                </a:solidFill>
                <a:latin typeface="Calibri"/>
              </a:rPr>
              <a:t>  Ejecutado   </a:t>
            </a:r>
            <a:r>
              <a:rPr sz="950">
                <a:solidFill>
                  <a:srgbClr val="333333"/>
                </a:solidFill>
                <a:latin typeface="Calibri"/>
                <a:highlight>
                  <a:srgbClr val="8FAADC"/>
                </a:highlight>
              </a:rPr>
              <a:t>   </a:t>
            </a:r>
            <a:r>
              <a:rPr sz="950">
                <a:solidFill>
                  <a:srgbClr val="333333"/>
                </a:solidFill>
                <a:latin typeface="Calibri"/>
              </a:rPr>
              <a:t>  Planificado   </a:t>
            </a:r>
            <a:r>
              <a:rPr sz="950">
                <a:solidFill>
                  <a:srgbClr val="333333"/>
                </a:solidFill>
                <a:latin typeface="Calibri"/>
                <a:highlight>
                  <a:srgbClr val="ED7D31"/>
                </a:highlight>
              </a:rPr>
              <a:t>   </a:t>
            </a:r>
            <a:r>
              <a:rPr sz="950">
                <a:solidFill>
                  <a:srgbClr val="333333"/>
                </a:solidFill>
                <a:latin typeface="Calibri"/>
              </a:rPr>
              <a:t>  Marcha blanca   </a:t>
            </a:r>
            <a:r>
              <a:rPr sz="950">
                <a:solidFill>
                  <a:srgbClr val="333333"/>
                </a:solidFill>
                <a:latin typeface="Calibri"/>
                <a:highlight>
                  <a:srgbClr val="2E7D32"/>
                </a:highlight>
              </a:rPr>
              <a:t>   </a:t>
            </a:r>
            <a:r>
              <a:rPr sz="950">
                <a:solidFill>
                  <a:srgbClr val="333333"/>
                </a:solidFill>
                <a:latin typeface="Calibri"/>
              </a:rPr>
              <a:t>  Lanzamiento   </a:t>
            </a:r>
            <a:r>
              <a:rPr sz="950">
                <a:solidFill>
                  <a:srgbClr val="595959"/>
                </a:solidFill>
                <a:latin typeface="Calibri"/>
              </a:rPr>
              <a:t>Integraciones terminadas el 1 de noviembre (S14) · Lanzamiento oficial el 1 de enero (S23).</a:t>
            </a:r>
          </a:p>
        </p:txBody>
      </p:sp>
    </p:spTree>
    <p:extLst>
      <p:ext uri="{BB962C8B-B14F-4D97-AF65-F5344CB8AC3E}">
        <p14:creationId xmlns:p14="http://schemas.microsoft.com/office/powerpoint/2010/main" val="332431338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“KUENTAS”</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1015663"/>
          </a:xfrm>
          <a:prstGeom prst="rect">
            <a:avLst/>
          </a:prstGeom>
          <a:noFill/>
        </p:spPr>
        <p:txBody>
          <a:bodyPr wrap="square" rtlCol="0">
            <a:spAutoFit/>
          </a:bodyPr>
          <a:lstStyle/>
          <a:p>
            <a:pPr algn="ctr"/>
            <a:r>
              <a:rPr lang="es-MX" sz="3600" dirty="0"/>
              <a:t>Arquitectura del software</a:t>
            </a:r>
          </a:p>
          <a:p>
            <a:pPr algn="ctr"/>
            <a:r>
              <a:rPr lang="es-MX" sz="2400" dirty="0">
                <a:solidFill>
                  <a:schemeClr val="bg2">
                    <a:lumMod val="50000"/>
                  </a:schemeClr>
                </a:solidFill>
              </a:rPr>
              <a:t>*Presentar esquema</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027" name="Rounded Rectangle 1026"/>
          <p:cNvSpPr/>
          <p:nvPr/>
        </p:nvSpPr>
        <p:spPr>
          <a:xfrm>
            <a:off x="1051560" y="2743200"/>
            <a:ext cx="2971800" cy="18288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600"/>
              </a:spcAft>
            </a:pPr>
            <a:r>
              <a:rPr sz="1600" b="1">
                <a:solidFill>
                  <a:srgbClr val="4472C4"/>
                </a:solidFill>
                <a:latin typeface="Calibri"/>
              </a:rPr>
              <a:t>Frontend</a:t>
            </a:r>
          </a:p>
          <a:p>
            <a:pPr algn="ctr">
              <a:spcAft>
                <a:spcPts val="200"/>
              </a:spcAft>
            </a:pPr>
            <a:r>
              <a:rPr sz="1200" b="0">
                <a:solidFill>
                  <a:srgbClr val="333333"/>
                </a:solidFill>
                <a:latin typeface="Calibri"/>
              </a:rPr>
              <a:t>kuentas-web</a:t>
            </a:r>
          </a:p>
          <a:p>
            <a:pPr algn="ctr">
              <a:spcAft>
                <a:spcPts val="200"/>
              </a:spcAft>
            </a:pPr>
            <a:r>
              <a:rPr sz="1200" b="0">
                <a:solidFill>
                  <a:srgbClr val="333333"/>
                </a:solidFill>
                <a:latin typeface="Calibri"/>
              </a:rPr>
              <a:t>Vue 3 · Composition API</a:t>
            </a:r>
          </a:p>
          <a:p>
            <a:pPr algn="ctr">
              <a:spcAft>
                <a:spcPts val="200"/>
              </a:spcAft>
            </a:pPr>
            <a:r>
              <a:rPr sz="1200" b="0">
                <a:solidFill>
                  <a:srgbClr val="333333"/>
                </a:solidFill>
                <a:latin typeface="Calibri"/>
              </a:rPr>
              <a:t>Pinia · Tailwind CSS</a:t>
            </a:r>
          </a:p>
          <a:p>
            <a:pPr algn="ctr">
              <a:spcAft>
                <a:spcPts val="200"/>
              </a:spcAft>
            </a:pPr>
            <a:r>
              <a:rPr sz="1200" b="0">
                <a:solidFill>
                  <a:srgbClr val="333333"/>
                </a:solidFill>
                <a:latin typeface="Calibri"/>
              </a:rPr>
              <a:t>Patrón MVVM</a:t>
            </a:r>
          </a:p>
        </p:txBody>
      </p:sp>
      <p:sp>
        <p:nvSpPr>
          <p:cNvPr id="1028" name="Right Arrow 1027"/>
          <p:cNvSpPr/>
          <p:nvPr/>
        </p:nvSpPr>
        <p:spPr>
          <a:xfrm>
            <a:off x="4114800" y="3520440"/>
            <a:ext cx="411480" cy="292608"/>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Rounded Rectangle 1028"/>
          <p:cNvSpPr/>
          <p:nvPr/>
        </p:nvSpPr>
        <p:spPr>
          <a:xfrm>
            <a:off x="4754879" y="2743200"/>
            <a:ext cx="2971800" cy="18288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600"/>
              </a:spcAft>
            </a:pPr>
            <a:r>
              <a:rPr sz="1600" b="1">
                <a:solidFill>
                  <a:srgbClr val="4472C4"/>
                </a:solidFill>
                <a:latin typeface="Calibri"/>
              </a:rPr>
              <a:t>API REST</a:t>
            </a:r>
          </a:p>
          <a:p>
            <a:pPr algn="ctr">
              <a:spcAft>
                <a:spcPts val="200"/>
              </a:spcAft>
            </a:pPr>
            <a:r>
              <a:rPr sz="1200" b="0">
                <a:solidFill>
                  <a:srgbClr val="333333"/>
                </a:solidFill>
                <a:latin typeface="Calibri"/>
              </a:rPr>
              <a:t>kuentas-api</a:t>
            </a:r>
          </a:p>
          <a:p>
            <a:pPr algn="ctr">
              <a:spcAft>
                <a:spcPts val="200"/>
              </a:spcAft>
            </a:pPr>
            <a:r>
              <a:rPr sz="1200" b="0">
                <a:solidFill>
                  <a:srgbClr val="333333"/>
                </a:solidFill>
                <a:latin typeface="Calibri"/>
              </a:rPr>
              <a:t>NestJS · TypeScript</a:t>
            </a:r>
          </a:p>
          <a:p>
            <a:pPr algn="ctr">
              <a:spcAft>
                <a:spcPts val="200"/>
              </a:spcAft>
            </a:pPr>
            <a:r>
              <a:rPr sz="1200" b="0">
                <a:solidFill>
                  <a:srgbClr val="333333"/>
                </a:solidFill>
                <a:latin typeface="Calibri"/>
              </a:rPr>
              <a:t>Controlador → Servicio</a:t>
            </a:r>
          </a:p>
          <a:p>
            <a:pPr algn="ctr">
              <a:spcAft>
                <a:spcPts val="200"/>
              </a:spcAft>
            </a:pPr>
            <a:r>
              <a:rPr sz="1200" b="0">
                <a:solidFill>
                  <a:srgbClr val="333333"/>
                </a:solidFill>
                <a:latin typeface="Calibri"/>
              </a:rPr>
              <a:t>→ Repositorio (N-Tier)</a:t>
            </a:r>
          </a:p>
        </p:txBody>
      </p:sp>
      <p:sp>
        <p:nvSpPr>
          <p:cNvPr id="1030" name="Right Arrow 1029"/>
          <p:cNvSpPr/>
          <p:nvPr/>
        </p:nvSpPr>
        <p:spPr>
          <a:xfrm>
            <a:off x="7818119" y="3520440"/>
            <a:ext cx="411480" cy="292608"/>
          </a:xfrm>
          <a:prstGeom prst="rightArrow">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Rounded Rectangle 1030"/>
          <p:cNvSpPr/>
          <p:nvPr/>
        </p:nvSpPr>
        <p:spPr>
          <a:xfrm>
            <a:off x="8458200" y="2743200"/>
            <a:ext cx="2971800" cy="18288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600"/>
              </a:spcAft>
            </a:pPr>
            <a:r>
              <a:rPr sz="1600" b="1">
                <a:solidFill>
                  <a:srgbClr val="4472C4"/>
                </a:solidFill>
                <a:latin typeface="Calibri"/>
              </a:rPr>
              <a:t>Datos</a:t>
            </a:r>
          </a:p>
          <a:p>
            <a:pPr algn="ctr">
              <a:spcAft>
                <a:spcPts val="200"/>
              </a:spcAft>
            </a:pPr>
            <a:r>
              <a:rPr sz="1200" b="0">
                <a:solidFill>
                  <a:srgbClr val="333333"/>
                </a:solidFill>
                <a:latin typeface="Calibri"/>
              </a:rPr>
              <a:t>Prisma ORM</a:t>
            </a:r>
          </a:p>
          <a:p>
            <a:pPr algn="ctr">
              <a:spcAft>
                <a:spcPts val="200"/>
              </a:spcAft>
            </a:pPr>
            <a:r>
              <a:rPr sz="1200" b="0">
                <a:solidFill>
                  <a:srgbClr val="333333"/>
                </a:solidFill>
                <a:latin typeface="Calibri"/>
              </a:rPr>
              <a:t>PostgreSQL (Cloud SQL)</a:t>
            </a:r>
          </a:p>
          <a:p>
            <a:pPr algn="ctr">
              <a:spcAft>
                <a:spcPts val="200"/>
              </a:spcAft>
            </a:pPr>
            <a:r>
              <a:rPr sz="1200" b="0">
                <a:solidFill>
                  <a:srgbClr val="333333"/>
                </a:solidFill>
                <a:latin typeface="Calibri"/>
              </a:rPr>
              <a:t>Multiempresa por tenantId</a:t>
            </a:r>
          </a:p>
          <a:p>
            <a:pPr algn="ctr">
              <a:spcAft>
                <a:spcPts val="200"/>
              </a:spcAft>
            </a:pPr>
            <a:r>
              <a:rPr sz="1200" b="0">
                <a:solidFill>
                  <a:srgbClr val="333333"/>
                </a:solidFill>
                <a:latin typeface="Calibri"/>
              </a:rPr>
              <a:t>Migraciones versionadas</a:t>
            </a:r>
          </a:p>
        </p:txBody>
      </p:sp>
      <p:sp>
        <p:nvSpPr>
          <p:cNvPr id="1032" name="Rounded Rectangle 1031"/>
          <p:cNvSpPr/>
          <p:nvPr/>
        </p:nvSpPr>
        <p:spPr>
          <a:xfrm>
            <a:off x="1051560" y="4892040"/>
            <a:ext cx="10104120" cy="77724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250" b="1">
                <a:solidFill>
                  <a:srgbClr val="44546A"/>
                </a:solidFill>
                <a:latin typeface="Calibri"/>
              </a:rPr>
              <a:t>Google Cloud Platform: Cloud Run, Cloud SQL y Artifact Registry · GitHub con integración continua: las pruebas en Vitest condicionan cada despliegue.</a:t>
            </a:r>
          </a:p>
        </p:txBody>
      </p:sp>
    </p:spTree>
    <p:extLst>
      <p:ext uri="{BB962C8B-B14F-4D97-AF65-F5344CB8AC3E}">
        <p14:creationId xmlns:p14="http://schemas.microsoft.com/office/powerpoint/2010/main" val="189049146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“KUENTAS”</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Modelo de datos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027" name="Rounded Rectangle 1026"/>
          <p:cNvSpPr/>
          <p:nvPr/>
        </p:nvSpPr>
        <p:spPr>
          <a:xfrm>
            <a:off x="868680" y="2377440"/>
            <a:ext cx="2377440" cy="9144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300" b="1">
                <a:solidFill>
                  <a:srgbClr val="44546A"/>
                </a:solidFill>
                <a:latin typeface="Calibri"/>
              </a:rPr>
              <a:t>Empresa (tenant)</a:t>
            </a:r>
          </a:p>
          <a:p>
            <a:pPr algn="ctr">
              <a:spcAft>
                <a:spcPts val="200"/>
              </a:spcAft>
            </a:pPr>
            <a:r>
              <a:rPr sz="1050" b="0">
                <a:solidFill>
                  <a:srgbClr val="595959"/>
                </a:solidFill>
                <a:latin typeface="Calibri"/>
              </a:rPr>
              <a:t>Aísla los datos de cada cliente</a:t>
            </a:r>
          </a:p>
        </p:txBody>
      </p:sp>
      <p:sp>
        <p:nvSpPr>
          <p:cNvPr id="1028" name="Rounded Rectangle 1027"/>
          <p:cNvSpPr/>
          <p:nvPr/>
        </p:nvSpPr>
        <p:spPr>
          <a:xfrm>
            <a:off x="3886200" y="2377440"/>
            <a:ext cx="2377440" cy="9144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300" b="1">
                <a:solidFill>
                  <a:srgbClr val="44546A"/>
                </a:solidFill>
                <a:latin typeface="Calibri"/>
              </a:rPr>
              <a:t>Plan de Cuentas</a:t>
            </a:r>
          </a:p>
          <a:p>
            <a:pPr algn="ctr">
              <a:spcAft>
                <a:spcPts val="200"/>
              </a:spcAft>
            </a:pPr>
            <a:r>
              <a:rPr sz="1050" b="0">
                <a:solidFill>
                  <a:srgbClr val="595959"/>
                </a:solidFill>
                <a:latin typeface="Calibri"/>
              </a:rPr>
              <a:t>Cuenta · tipo · imputable</a:t>
            </a:r>
          </a:p>
        </p:txBody>
      </p:sp>
      <p:sp>
        <p:nvSpPr>
          <p:cNvPr id="1029" name="Rounded Rectangle 1028"/>
          <p:cNvSpPr/>
          <p:nvPr/>
        </p:nvSpPr>
        <p:spPr>
          <a:xfrm>
            <a:off x="6903720" y="2377440"/>
            <a:ext cx="2377440" cy="9144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300" b="1">
                <a:solidFill>
                  <a:srgbClr val="44546A"/>
                </a:solidFill>
                <a:latin typeface="Calibri"/>
              </a:rPr>
              <a:t>Períodos</a:t>
            </a:r>
          </a:p>
          <a:p>
            <a:pPr algn="ctr">
              <a:spcAft>
                <a:spcPts val="200"/>
              </a:spcAft>
            </a:pPr>
            <a:r>
              <a:rPr sz="1050" b="0">
                <a:solidFill>
                  <a:srgbClr val="595959"/>
                </a:solidFill>
                <a:latin typeface="Calibri"/>
              </a:rPr>
              <a:t>Apertura y cierre contable</a:t>
            </a:r>
          </a:p>
        </p:txBody>
      </p:sp>
      <p:sp>
        <p:nvSpPr>
          <p:cNvPr id="1030" name="Rounded Rectangle 1029"/>
          <p:cNvSpPr/>
          <p:nvPr/>
        </p:nvSpPr>
        <p:spPr>
          <a:xfrm>
            <a:off x="9921240" y="2377440"/>
            <a:ext cx="2011680" cy="9144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300" b="1">
                <a:solidFill>
                  <a:srgbClr val="44546A"/>
                </a:solidFill>
                <a:latin typeface="Calibri"/>
              </a:rPr>
              <a:t>Centros de Costo</a:t>
            </a:r>
          </a:p>
          <a:p>
            <a:pPr algn="ctr">
              <a:spcAft>
                <a:spcPts val="200"/>
              </a:spcAft>
            </a:pPr>
            <a:r>
              <a:rPr sz="1050" b="0">
                <a:solidFill>
                  <a:srgbClr val="595959"/>
                </a:solidFill>
                <a:latin typeface="Calibri"/>
              </a:rPr>
              <a:t>Áreas de gasto e ingreso</a:t>
            </a:r>
          </a:p>
        </p:txBody>
      </p:sp>
      <p:sp>
        <p:nvSpPr>
          <p:cNvPr id="1031" name="Rounded Rectangle 1030"/>
          <p:cNvSpPr/>
          <p:nvPr/>
        </p:nvSpPr>
        <p:spPr>
          <a:xfrm>
            <a:off x="868680" y="3931920"/>
            <a:ext cx="2377440" cy="9144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300" b="1">
                <a:solidFill>
                  <a:srgbClr val="44546A"/>
                </a:solidFill>
                <a:latin typeface="Calibri"/>
              </a:rPr>
              <a:t>Maestros</a:t>
            </a:r>
          </a:p>
          <a:p>
            <a:pPr algn="ctr">
              <a:spcAft>
                <a:spcPts val="200"/>
              </a:spcAft>
            </a:pPr>
            <a:r>
              <a:rPr sz="1050" b="0">
                <a:solidFill>
                  <a:srgbClr val="595959"/>
                </a:solidFill>
                <a:latin typeface="Calibri"/>
              </a:rPr>
              <a:t>Clientes · Proveedores · Tipos de documento</a:t>
            </a:r>
          </a:p>
        </p:txBody>
      </p:sp>
      <p:sp>
        <p:nvSpPr>
          <p:cNvPr id="1032" name="Rounded Rectangle 1031"/>
          <p:cNvSpPr/>
          <p:nvPr/>
        </p:nvSpPr>
        <p:spPr>
          <a:xfrm>
            <a:off x="3886200" y="3931920"/>
            <a:ext cx="2377440" cy="9144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300" b="1">
                <a:solidFill>
                  <a:srgbClr val="44546A"/>
                </a:solidFill>
                <a:latin typeface="Calibri"/>
              </a:rPr>
              <a:t>Voucher</a:t>
            </a:r>
          </a:p>
          <a:p>
            <a:pPr algn="ctr">
              <a:spcAft>
                <a:spcPts val="200"/>
              </a:spcAft>
            </a:pPr>
            <a:r>
              <a:rPr sz="1050" b="0">
                <a:solidFill>
                  <a:srgbClr val="595959"/>
                </a:solidFill>
                <a:latin typeface="Calibri"/>
              </a:rPr>
              <a:t>Comprobante: fecha, tipo, glosa</a:t>
            </a:r>
          </a:p>
        </p:txBody>
      </p:sp>
      <p:sp>
        <p:nvSpPr>
          <p:cNvPr id="1033" name="Rounded Rectangle 1032"/>
          <p:cNvSpPr/>
          <p:nvPr/>
        </p:nvSpPr>
        <p:spPr>
          <a:xfrm>
            <a:off x="6903720" y="3931920"/>
            <a:ext cx="2377440" cy="9144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300" b="1">
                <a:solidFill>
                  <a:srgbClr val="44546A"/>
                </a:solidFill>
                <a:latin typeface="Calibri"/>
              </a:rPr>
              <a:t>Línea de Voucher</a:t>
            </a:r>
          </a:p>
          <a:p>
            <a:pPr algn="ctr">
              <a:spcAft>
                <a:spcPts val="200"/>
              </a:spcAft>
            </a:pPr>
            <a:r>
              <a:rPr sz="1050" b="0">
                <a:solidFill>
                  <a:srgbClr val="595959"/>
                </a:solidFill>
                <a:latin typeface="Calibri"/>
              </a:rPr>
              <a:t>Cuenta, debe, haber, contraparte</a:t>
            </a:r>
          </a:p>
        </p:txBody>
      </p:sp>
      <p:sp>
        <p:nvSpPr>
          <p:cNvPr id="1034" name="Rounded Rectangle 1033"/>
          <p:cNvSpPr/>
          <p:nvPr/>
        </p:nvSpPr>
        <p:spPr>
          <a:xfrm>
            <a:off x="9921240" y="3931920"/>
            <a:ext cx="2011680" cy="91440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300" b="1">
                <a:solidFill>
                  <a:srgbClr val="44546A"/>
                </a:solidFill>
                <a:latin typeface="Calibri"/>
              </a:rPr>
              <a:t>Libros e informes</a:t>
            </a:r>
          </a:p>
          <a:p>
            <a:pPr algn="ctr">
              <a:spcAft>
                <a:spcPts val="200"/>
              </a:spcAft>
            </a:pPr>
            <a:r>
              <a:rPr sz="1050" b="0">
                <a:solidFill>
                  <a:srgbClr val="595959"/>
                </a:solidFill>
                <a:latin typeface="Calibri"/>
              </a:rPr>
              <a:t>Se calculan desde las líneas</a:t>
            </a:r>
          </a:p>
        </p:txBody>
      </p:sp>
      <p:sp>
        <p:nvSpPr>
          <p:cNvPr id="1035" name="TextBox 1034"/>
          <p:cNvSpPr txBox="1"/>
          <p:nvPr/>
        </p:nvSpPr>
        <p:spPr>
          <a:xfrm>
            <a:off x="868680" y="5074920"/>
            <a:ext cx="11064240" cy="1005840"/>
          </a:xfrm>
          <a:prstGeom prst="rect">
            <a:avLst/>
          </a:prstGeom>
          <a:noFill/>
        </p:spPr>
        <p:txBody>
          <a:bodyPr wrap="square" lIns="45720" rIns="45720" tIns="0" bIns="0">
            <a:spAutoFit/>
          </a:bodyPr>
          <a:lstStyle/>
          <a:p>
            <a:pPr algn="l">
              <a:spcAft>
                <a:spcPts val="400"/>
              </a:spcAft>
            </a:pPr>
            <a:r>
              <a:rPr sz="1200" b="0">
                <a:solidFill>
                  <a:srgbClr val="333333"/>
                </a:solidFill>
                <a:latin typeface="Calibri"/>
              </a:rPr>
              <a:t>• Toda la información cuelga de la empresa: cada consulta filtra por tenantId, lo que garantiza el aislamiento entre clientes.</a:t>
            </a:r>
          </a:p>
          <a:p>
            <a:pPr algn="l">
              <a:spcAft>
                <a:spcPts val="400"/>
              </a:spcAft>
            </a:pPr>
            <a:r>
              <a:rPr sz="1200" b="0">
                <a:solidFill>
                  <a:srgbClr val="333333"/>
                </a:solidFill>
                <a:latin typeface="Calibri"/>
              </a:rPr>
              <a:t>• El Voucher y sus líneas son la única fuente de verdad: los libros, los balances y el Libro de Compras y Ventas se calculan a partir de ellas.</a:t>
            </a:r>
          </a:p>
          <a:p>
            <a:pPr algn="l">
              <a:spcAft>
                <a:spcPts val="400"/>
              </a:spcAft>
            </a:pPr>
            <a:r>
              <a:rPr sz="1200" b="0">
                <a:solidFill>
                  <a:srgbClr val="333333"/>
                </a:solidFill>
                <a:latin typeface="Calibri"/>
              </a:rPr>
              <a:t>• Una línea con proveedor se lee como compra y una con cliente como venta, sin duplicar tablas.</a:t>
            </a:r>
          </a:p>
        </p:txBody>
      </p:sp>
    </p:spTree>
    <p:extLst>
      <p:ext uri="{BB962C8B-B14F-4D97-AF65-F5344CB8AC3E}">
        <p14:creationId xmlns:p14="http://schemas.microsoft.com/office/powerpoint/2010/main" val="275245761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“KUENTAS”</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Tecnologías utilizadas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027" name="TextBox 1026"/>
          <p:cNvSpPr txBox="1"/>
          <p:nvPr/>
        </p:nvSpPr>
        <p:spPr>
          <a:xfrm>
            <a:off x="914400" y="2240280"/>
            <a:ext cx="2743200" cy="365760"/>
          </a:xfrm>
          <a:prstGeom prst="rect">
            <a:avLst/>
          </a:prstGeom>
          <a:noFill/>
        </p:spPr>
        <p:txBody>
          <a:bodyPr wrap="square" lIns="45720" rIns="45720" tIns="0" bIns="0">
            <a:spAutoFit/>
          </a:bodyPr>
          <a:lstStyle/>
          <a:p>
            <a:pPr algn="l">
              <a:spcAft>
                <a:spcPts val="600"/>
              </a:spcAft>
            </a:pPr>
            <a:r>
              <a:rPr sz="1400" b="1">
                <a:solidFill>
                  <a:srgbClr val="4472C4"/>
                </a:solidFill>
                <a:latin typeface="Calibri"/>
              </a:rPr>
              <a:t>Frontend</a:t>
            </a:r>
          </a:p>
        </p:txBody>
      </p:sp>
      <p:sp>
        <p:nvSpPr>
          <p:cNvPr id="1028" name="Rounded Rectangle 1027"/>
          <p:cNvSpPr/>
          <p:nvPr/>
        </p:nvSpPr>
        <p:spPr>
          <a:xfrm>
            <a:off x="3657600" y="2212848"/>
            <a:ext cx="736092"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Vue 3</a:t>
            </a:r>
          </a:p>
        </p:txBody>
      </p:sp>
      <p:sp>
        <p:nvSpPr>
          <p:cNvPr id="1029" name="Rounded Rectangle 1028"/>
          <p:cNvSpPr/>
          <p:nvPr/>
        </p:nvSpPr>
        <p:spPr>
          <a:xfrm>
            <a:off x="4558284" y="2212848"/>
            <a:ext cx="1696212"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Composition API</a:t>
            </a:r>
          </a:p>
        </p:txBody>
      </p:sp>
      <p:sp>
        <p:nvSpPr>
          <p:cNvPr id="1030" name="Rounded Rectangle 1029"/>
          <p:cNvSpPr/>
          <p:nvPr/>
        </p:nvSpPr>
        <p:spPr>
          <a:xfrm>
            <a:off x="6419088" y="2212848"/>
            <a:ext cx="736092"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Pinia</a:t>
            </a:r>
          </a:p>
        </p:txBody>
      </p:sp>
      <p:sp>
        <p:nvSpPr>
          <p:cNvPr id="1031" name="Rounded Rectangle 1030"/>
          <p:cNvSpPr/>
          <p:nvPr/>
        </p:nvSpPr>
        <p:spPr>
          <a:xfrm>
            <a:off x="7319772" y="2212848"/>
            <a:ext cx="1408176"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Tailwind CSS</a:t>
            </a:r>
          </a:p>
        </p:txBody>
      </p:sp>
      <p:sp>
        <p:nvSpPr>
          <p:cNvPr id="1032" name="Rounded Rectangle 1031"/>
          <p:cNvSpPr/>
          <p:nvPr/>
        </p:nvSpPr>
        <p:spPr>
          <a:xfrm>
            <a:off x="8892540" y="2212848"/>
            <a:ext cx="640080"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Vite</a:t>
            </a:r>
          </a:p>
        </p:txBody>
      </p:sp>
      <p:sp>
        <p:nvSpPr>
          <p:cNvPr id="1033" name="TextBox 1032"/>
          <p:cNvSpPr txBox="1"/>
          <p:nvPr/>
        </p:nvSpPr>
        <p:spPr>
          <a:xfrm>
            <a:off x="914400" y="3172968"/>
            <a:ext cx="2743200" cy="365760"/>
          </a:xfrm>
          <a:prstGeom prst="rect">
            <a:avLst/>
          </a:prstGeom>
          <a:noFill/>
        </p:spPr>
        <p:txBody>
          <a:bodyPr wrap="square" lIns="45720" rIns="45720" tIns="0" bIns="0">
            <a:spAutoFit/>
          </a:bodyPr>
          <a:lstStyle/>
          <a:p>
            <a:pPr algn="l">
              <a:spcAft>
                <a:spcPts val="600"/>
              </a:spcAft>
            </a:pPr>
            <a:r>
              <a:rPr sz="1400" b="1">
                <a:solidFill>
                  <a:srgbClr val="4472C4"/>
                </a:solidFill>
                <a:latin typeface="Calibri"/>
              </a:rPr>
              <a:t>Backend</a:t>
            </a:r>
          </a:p>
        </p:txBody>
      </p:sp>
      <p:sp>
        <p:nvSpPr>
          <p:cNvPr id="1034" name="Rounded Rectangle 1033"/>
          <p:cNvSpPr/>
          <p:nvPr/>
        </p:nvSpPr>
        <p:spPr>
          <a:xfrm>
            <a:off x="3657600" y="3145536"/>
            <a:ext cx="832104"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NestJS</a:t>
            </a:r>
          </a:p>
        </p:txBody>
      </p:sp>
      <p:sp>
        <p:nvSpPr>
          <p:cNvPr id="1035" name="Rounded Rectangle 1034"/>
          <p:cNvSpPr/>
          <p:nvPr/>
        </p:nvSpPr>
        <p:spPr>
          <a:xfrm>
            <a:off x="4654296" y="3145536"/>
            <a:ext cx="1216152"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TypeScript</a:t>
            </a:r>
          </a:p>
        </p:txBody>
      </p:sp>
      <p:sp>
        <p:nvSpPr>
          <p:cNvPr id="1036" name="Rounded Rectangle 1035"/>
          <p:cNvSpPr/>
          <p:nvPr/>
        </p:nvSpPr>
        <p:spPr>
          <a:xfrm>
            <a:off x="6035040" y="3145536"/>
            <a:ext cx="1216152"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Prisma ORM</a:t>
            </a:r>
          </a:p>
        </p:txBody>
      </p:sp>
      <p:sp>
        <p:nvSpPr>
          <p:cNvPr id="1037" name="Rounded Rectangle 1036"/>
          <p:cNvSpPr/>
          <p:nvPr/>
        </p:nvSpPr>
        <p:spPr>
          <a:xfrm>
            <a:off x="7415783" y="3145536"/>
            <a:ext cx="1024128"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API REST</a:t>
            </a:r>
          </a:p>
        </p:txBody>
      </p:sp>
      <p:sp>
        <p:nvSpPr>
          <p:cNvPr id="1038" name="Rounded Rectangle 1037"/>
          <p:cNvSpPr/>
          <p:nvPr/>
        </p:nvSpPr>
        <p:spPr>
          <a:xfrm>
            <a:off x="8604504" y="3145536"/>
            <a:ext cx="544068"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JWT</a:t>
            </a:r>
          </a:p>
        </p:txBody>
      </p:sp>
      <p:sp>
        <p:nvSpPr>
          <p:cNvPr id="1039" name="TextBox 1038"/>
          <p:cNvSpPr txBox="1"/>
          <p:nvPr/>
        </p:nvSpPr>
        <p:spPr>
          <a:xfrm>
            <a:off x="914400" y="4105656"/>
            <a:ext cx="2743200" cy="365760"/>
          </a:xfrm>
          <a:prstGeom prst="rect">
            <a:avLst/>
          </a:prstGeom>
          <a:noFill/>
        </p:spPr>
        <p:txBody>
          <a:bodyPr wrap="square" lIns="45720" rIns="45720" tIns="0" bIns="0">
            <a:spAutoFit/>
          </a:bodyPr>
          <a:lstStyle/>
          <a:p>
            <a:pPr algn="l">
              <a:spcAft>
                <a:spcPts val="600"/>
              </a:spcAft>
            </a:pPr>
            <a:r>
              <a:rPr sz="1400" b="1">
                <a:solidFill>
                  <a:srgbClr val="4472C4"/>
                </a:solidFill>
                <a:latin typeface="Calibri"/>
              </a:rPr>
              <a:t>Datos</a:t>
            </a:r>
          </a:p>
        </p:txBody>
      </p:sp>
      <p:sp>
        <p:nvSpPr>
          <p:cNvPr id="1040" name="Rounded Rectangle 1039"/>
          <p:cNvSpPr/>
          <p:nvPr/>
        </p:nvSpPr>
        <p:spPr>
          <a:xfrm>
            <a:off x="3657600" y="4078224"/>
            <a:ext cx="1216152"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PostgreSQL</a:t>
            </a:r>
          </a:p>
        </p:txBody>
      </p:sp>
      <p:sp>
        <p:nvSpPr>
          <p:cNvPr id="1041" name="Rounded Rectangle 1040"/>
          <p:cNvSpPr/>
          <p:nvPr/>
        </p:nvSpPr>
        <p:spPr>
          <a:xfrm>
            <a:off x="5038344" y="4078224"/>
            <a:ext cx="1120140"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Cloud SQL</a:t>
            </a:r>
          </a:p>
        </p:txBody>
      </p:sp>
      <p:sp>
        <p:nvSpPr>
          <p:cNvPr id="1042" name="Rounded Rectangle 1041"/>
          <p:cNvSpPr/>
          <p:nvPr/>
        </p:nvSpPr>
        <p:spPr>
          <a:xfrm>
            <a:off x="6323076" y="4078224"/>
            <a:ext cx="1984248"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Migraciones Prisma</a:t>
            </a:r>
          </a:p>
        </p:txBody>
      </p:sp>
      <p:sp>
        <p:nvSpPr>
          <p:cNvPr id="1043" name="Rounded Rectangle 1042"/>
          <p:cNvSpPr/>
          <p:nvPr/>
        </p:nvSpPr>
        <p:spPr>
          <a:xfrm>
            <a:off x="8471916" y="4078224"/>
            <a:ext cx="1408176"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Multi-tenant</a:t>
            </a:r>
          </a:p>
        </p:txBody>
      </p:sp>
      <p:sp>
        <p:nvSpPr>
          <p:cNvPr id="1044" name="TextBox 1043"/>
          <p:cNvSpPr txBox="1"/>
          <p:nvPr/>
        </p:nvSpPr>
        <p:spPr>
          <a:xfrm>
            <a:off x="914400" y="5038344"/>
            <a:ext cx="2743200" cy="365760"/>
          </a:xfrm>
          <a:prstGeom prst="rect">
            <a:avLst/>
          </a:prstGeom>
          <a:noFill/>
        </p:spPr>
        <p:txBody>
          <a:bodyPr wrap="square" lIns="45720" rIns="45720" tIns="0" bIns="0">
            <a:spAutoFit/>
          </a:bodyPr>
          <a:lstStyle/>
          <a:p>
            <a:pPr algn="l">
              <a:spcAft>
                <a:spcPts val="600"/>
              </a:spcAft>
            </a:pPr>
            <a:r>
              <a:rPr sz="1400" b="1">
                <a:solidFill>
                  <a:srgbClr val="4472C4"/>
                </a:solidFill>
                <a:latin typeface="Calibri"/>
              </a:rPr>
              <a:t>Infraestructura y calidad</a:t>
            </a:r>
          </a:p>
        </p:txBody>
      </p:sp>
      <p:sp>
        <p:nvSpPr>
          <p:cNvPr id="1045" name="Rounded Rectangle 1044"/>
          <p:cNvSpPr/>
          <p:nvPr/>
        </p:nvSpPr>
        <p:spPr>
          <a:xfrm>
            <a:off x="3657600" y="5010912"/>
            <a:ext cx="832104"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Docker</a:t>
            </a:r>
          </a:p>
        </p:txBody>
      </p:sp>
      <p:sp>
        <p:nvSpPr>
          <p:cNvPr id="1046" name="Rounded Rectangle 1045"/>
          <p:cNvSpPr/>
          <p:nvPr/>
        </p:nvSpPr>
        <p:spPr>
          <a:xfrm>
            <a:off x="4654296" y="5010912"/>
            <a:ext cx="1120140"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Cloud Run</a:t>
            </a:r>
          </a:p>
        </p:txBody>
      </p:sp>
      <p:sp>
        <p:nvSpPr>
          <p:cNvPr id="1047" name="Rounded Rectangle 1046"/>
          <p:cNvSpPr/>
          <p:nvPr/>
        </p:nvSpPr>
        <p:spPr>
          <a:xfrm>
            <a:off x="5939028" y="5010912"/>
            <a:ext cx="1888236"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Artifact Registry</a:t>
            </a:r>
          </a:p>
        </p:txBody>
      </p:sp>
      <p:sp>
        <p:nvSpPr>
          <p:cNvPr id="1048" name="Rounded Rectangle 1047"/>
          <p:cNvSpPr/>
          <p:nvPr/>
        </p:nvSpPr>
        <p:spPr>
          <a:xfrm>
            <a:off x="7991856" y="5010912"/>
            <a:ext cx="1600200"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GitHub Actions</a:t>
            </a:r>
          </a:p>
        </p:txBody>
      </p:sp>
      <p:sp>
        <p:nvSpPr>
          <p:cNvPr id="1049" name="Rounded Rectangle 1048"/>
          <p:cNvSpPr/>
          <p:nvPr/>
        </p:nvSpPr>
        <p:spPr>
          <a:xfrm>
            <a:off x="9756648" y="5010912"/>
            <a:ext cx="832104" cy="411480"/>
          </a:xfrm>
          <a:prstGeom prst="roundRect">
            <a:avLst/>
          </a:prstGeom>
          <a:solidFill>
            <a:srgbClr val="D9E2F3"/>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1150" b="0">
                <a:solidFill>
                  <a:srgbClr val="44546A"/>
                </a:solidFill>
                <a:latin typeface="Calibri"/>
              </a:rPr>
              <a:t>Vitest</a:t>
            </a:r>
          </a:p>
        </p:txBody>
      </p:sp>
    </p:spTree>
    <p:extLst>
      <p:ext uri="{BB962C8B-B14F-4D97-AF65-F5344CB8AC3E}">
        <p14:creationId xmlns:p14="http://schemas.microsoft.com/office/powerpoint/2010/main" val="340536874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707792"/>
            <a:ext cx="12191999" cy="1138773"/>
          </a:xfrm>
          <a:prstGeom prst="rect">
            <a:avLst/>
          </a:prstGeom>
          <a:noFill/>
        </p:spPr>
        <p:txBody>
          <a:bodyPr wrap="square" rtlCol="0">
            <a:spAutoFit/>
          </a:bodyPr>
          <a:lstStyle/>
          <a:p>
            <a:pPr algn="ctr"/>
            <a:r>
              <a:rPr lang="es-MX" sz="4400" dirty="0"/>
              <a:t>DEMOSTRACIÓN DEL RESULTADO DEL PROYECTO</a:t>
            </a:r>
          </a:p>
          <a:p>
            <a:pPr algn="ctr"/>
            <a:r>
              <a:rPr lang="es-MX" sz="2400" dirty="0">
                <a:solidFill>
                  <a:schemeClr val="bg2">
                    <a:lumMod val="50000"/>
                  </a:schemeClr>
                </a:solidFill>
              </a:rPr>
              <a:t>*Exposición del sistema</a:t>
            </a:r>
            <a:endParaRPr lang="es-CL" sz="2400" dirty="0">
              <a:solidFill>
                <a:schemeClr val="bg2">
                  <a:lumMod val="50000"/>
                </a:schemeClr>
              </a:solidFill>
            </a:endParaRPr>
          </a:p>
        </p:txBody>
      </p:sp>
    </p:spTree>
    <p:extLst>
      <p:ext uri="{BB962C8B-B14F-4D97-AF65-F5344CB8AC3E}">
        <p14:creationId xmlns:p14="http://schemas.microsoft.com/office/powerpoint/2010/main" val="48917468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1459095"/>
            <a:ext cx="12191999" cy="769441"/>
          </a:xfrm>
          <a:prstGeom prst="rect">
            <a:avLst/>
          </a:prstGeom>
          <a:noFill/>
        </p:spPr>
        <p:txBody>
          <a:bodyPr wrap="square" rtlCol="0">
            <a:spAutoFit/>
          </a:bodyPr>
          <a:lstStyle/>
          <a:p>
            <a:pPr algn="ctr"/>
            <a:r>
              <a:rPr lang="es-MX" sz="4400" dirty="0"/>
              <a:t>Resultados obtenidos</a:t>
            </a:r>
          </a:p>
        </p:txBody>
      </p:sp>
      <p:sp>
        <p:nvSpPr>
          <p:cNvPr id="1027" name="Rounded Rectangle 1026"/>
          <p:cNvSpPr/>
          <p:nvPr/>
        </p:nvSpPr>
        <p:spPr>
          <a:xfrm>
            <a:off x="868680" y="2468880"/>
            <a:ext cx="2606040" cy="123444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2800" b="1">
                <a:solidFill>
                  <a:srgbClr val="4472C4"/>
                </a:solidFill>
                <a:latin typeface="Calibri"/>
              </a:rPr>
              <a:t>7 de 7</a:t>
            </a:r>
          </a:p>
          <a:p>
            <a:pPr algn="ctr">
              <a:spcAft>
                <a:spcPts val="200"/>
              </a:spcAft>
            </a:pPr>
            <a:r>
              <a:rPr sz="1150" b="0">
                <a:solidFill>
                  <a:srgbClr val="333333"/>
                </a:solidFill>
                <a:latin typeface="Calibri"/>
              </a:rPr>
              <a:t>fases del roadmap completas</a:t>
            </a:r>
          </a:p>
        </p:txBody>
      </p:sp>
      <p:sp>
        <p:nvSpPr>
          <p:cNvPr id="1028" name="Rounded Rectangle 1027"/>
          <p:cNvSpPr/>
          <p:nvPr/>
        </p:nvSpPr>
        <p:spPr>
          <a:xfrm>
            <a:off x="3703320" y="2468880"/>
            <a:ext cx="2606040" cy="123444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2800" b="1">
                <a:solidFill>
                  <a:srgbClr val="4472C4"/>
                </a:solidFill>
                <a:latin typeface="Calibri"/>
              </a:rPr>
              <a:t>50</a:t>
            </a:r>
          </a:p>
          <a:p>
            <a:pPr algn="ctr">
              <a:spcAft>
                <a:spcPts val="200"/>
              </a:spcAft>
            </a:pPr>
            <a:r>
              <a:rPr sz="1150" b="0">
                <a:solidFill>
                  <a:srgbClr val="333333"/>
                </a:solidFill>
                <a:latin typeface="Calibri"/>
              </a:rPr>
              <a:t>módulos con pantalla navegable</a:t>
            </a:r>
          </a:p>
        </p:txBody>
      </p:sp>
      <p:sp>
        <p:nvSpPr>
          <p:cNvPr id="1029" name="Rounded Rectangle 1028"/>
          <p:cNvSpPr/>
          <p:nvPr/>
        </p:nvSpPr>
        <p:spPr>
          <a:xfrm>
            <a:off x="6537960" y="2468880"/>
            <a:ext cx="2606040" cy="123444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2800" b="1">
                <a:solidFill>
                  <a:srgbClr val="4472C4"/>
                </a:solidFill>
                <a:latin typeface="Calibri"/>
              </a:rPr>
              <a:t>595</a:t>
            </a:r>
          </a:p>
          <a:p>
            <a:pPr algn="ctr">
              <a:spcAft>
                <a:spcPts val="200"/>
              </a:spcAft>
            </a:pPr>
            <a:r>
              <a:rPr sz="1150" b="0">
                <a:solidFill>
                  <a:srgbClr val="333333"/>
                </a:solidFill>
                <a:latin typeface="Calibri"/>
              </a:rPr>
              <a:t>pruebas automatizadas en la rama principal</a:t>
            </a:r>
          </a:p>
        </p:txBody>
      </p:sp>
      <p:sp>
        <p:nvSpPr>
          <p:cNvPr id="1030" name="Rounded Rectangle 1029"/>
          <p:cNvSpPr/>
          <p:nvPr/>
        </p:nvSpPr>
        <p:spPr>
          <a:xfrm>
            <a:off x="9372600" y="2468880"/>
            <a:ext cx="2606040" cy="1234440"/>
          </a:xfrm>
          <a:prstGeom prst="roundRect">
            <a:avLst/>
          </a:prstGeom>
          <a:no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200"/>
              </a:spcAft>
            </a:pPr>
            <a:r>
              <a:rPr sz="2800" b="1">
                <a:solidFill>
                  <a:srgbClr val="4472C4"/>
                </a:solidFill>
                <a:latin typeface="Calibri"/>
              </a:rPr>
              <a:t>72</a:t>
            </a:r>
          </a:p>
          <a:p>
            <a:pPr algn="ctr">
              <a:spcAft>
                <a:spcPts val="200"/>
              </a:spcAft>
            </a:pPr>
            <a:r>
              <a:rPr sz="1150" b="0">
                <a:solidFill>
                  <a:srgbClr val="333333"/>
                </a:solidFill>
                <a:latin typeface="Calibri"/>
              </a:rPr>
              <a:t>Pull Requests integrados</a:t>
            </a:r>
          </a:p>
        </p:txBody>
      </p:sp>
      <p:sp>
        <p:nvSpPr>
          <p:cNvPr id="1031" name="TextBox 1030"/>
          <p:cNvSpPr txBox="1"/>
          <p:nvPr/>
        </p:nvSpPr>
        <p:spPr>
          <a:xfrm>
            <a:off x="868680" y="4069080"/>
            <a:ext cx="11064240" cy="1828800"/>
          </a:xfrm>
          <a:prstGeom prst="rect">
            <a:avLst/>
          </a:prstGeom>
          <a:noFill/>
        </p:spPr>
        <p:txBody>
          <a:bodyPr wrap="square" lIns="45720" rIns="45720" tIns="0" bIns="0">
            <a:spAutoFit/>
          </a:bodyPr>
          <a:lstStyle/>
          <a:p>
            <a:pPr algn="l">
              <a:spcAft>
                <a:spcPts val="800"/>
              </a:spcAft>
            </a:pPr>
            <a:r>
              <a:rPr sz="1300" b="0">
                <a:solidFill>
                  <a:srgbClr val="333333"/>
                </a:solidFill>
                <a:latin typeface="Calibri"/>
              </a:rPr>
              <a:t>• Ciclo contable completo y operativo: de los maestros al Balance General, con el MVP verificado de punta a punta.</a:t>
            </a:r>
          </a:p>
          <a:p>
            <a:pPr algn="l">
              <a:spcAft>
                <a:spcPts val="800"/>
              </a:spcAft>
            </a:pPr>
            <a:r>
              <a:rPr sz="1300" b="0">
                <a:solidFill>
                  <a:srgbClr val="333333"/>
                </a:solidFill>
                <a:latin typeface="Calibri"/>
              </a:rPr>
              <a:t>• Los libros oficiales se generan en línea, sin exportaciones intermedias ni consolidaciones manuales.</a:t>
            </a:r>
          </a:p>
          <a:p>
            <a:pPr algn="l">
              <a:spcAft>
                <a:spcPts val="800"/>
              </a:spcAft>
            </a:pPr>
            <a:r>
              <a:rPr sz="1300" b="0">
                <a:solidFill>
                  <a:srgbClr val="333333"/>
                </a:solidFill>
                <a:latin typeface="Calibri"/>
              </a:rPr>
              <a:t>• La plataforma está desplegada en producción y cada cambio pasa por revisión cruzada y pruebas antes de publicarse.</a:t>
            </a:r>
          </a:p>
          <a:p>
            <a:pPr algn="l">
              <a:spcAft>
                <a:spcPts val="800"/>
              </a:spcAft>
            </a:pPr>
            <a:r>
              <a:rPr sz="1300" b="0">
                <a:solidFill>
                  <a:srgbClr val="333333"/>
                </a:solidFill>
                <a:latin typeface="Calibri"/>
              </a:rPr>
              <a:t>• El sistema quedó validado en una demostración con el contador, de la que salieron los requerimientos de la etapa siguiente.</a:t>
            </a:r>
          </a:p>
        </p:txBody>
      </p:sp>
    </p:spTree>
    <p:extLst>
      <p:ext uri="{BB962C8B-B14F-4D97-AF65-F5344CB8AC3E}">
        <p14:creationId xmlns:p14="http://schemas.microsoft.com/office/powerpoint/2010/main" val="290489373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1360773"/>
            <a:ext cx="12191999" cy="769441"/>
          </a:xfrm>
          <a:prstGeom prst="rect">
            <a:avLst/>
          </a:prstGeom>
          <a:noFill/>
        </p:spPr>
        <p:txBody>
          <a:bodyPr wrap="square" rtlCol="0">
            <a:spAutoFit/>
          </a:bodyPr>
          <a:lstStyle/>
          <a:p>
            <a:pPr algn="ctr"/>
            <a:r>
              <a:rPr lang="es-MX" sz="4400" dirty="0"/>
              <a:t>Obstáculos presentados durante el desarrollo</a:t>
            </a:r>
          </a:p>
        </p:txBody>
      </p:sp>
      <p:sp>
        <p:nvSpPr>
          <p:cNvPr id="1027" name="TextBox 1026"/>
          <p:cNvSpPr txBox="1"/>
          <p:nvPr/>
        </p:nvSpPr>
        <p:spPr>
          <a:xfrm>
            <a:off x="914400" y="2286000"/>
            <a:ext cx="10424160" cy="777240"/>
          </a:xfrm>
          <a:prstGeom prst="rect">
            <a:avLst/>
          </a:prstGeom>
          <a:noFill/>
        </p:spPr>
        <p:txBody>
          <a:bodyPr wrap="square" lIns="45720" rIns="45720" tIns="0" bIns="0">
            <a:spAutoFit/>
          </a:bodyPr>
          <a:lstStyle/>
          <a:p>
            <a:pPr algn="l">
              <a:spcAft>
                <a:spcPts val="200"/>
              </a:spcAft>
            </a:pPr>
            <a:r>
              <a:rPr sz="1400" b="1">
                <a:solidFill>
                  <a:srgbClr val="4472C4"/>
                </a:solidFill>
                <a:latin typeface="Calibri"/>
              </a:rPr>
              <a:t>Reglas contables y tributarias complejas</a:t>
            </a:r>
          </a:p>
          <a:p>
            <a:pPr algn="l">
              <a:spcAft>
                <a:spcPts val="600"/>
              </a:spcAft>
            </a:pPr>
            <a:r>
              <a:rPr sz="1200" b="0">
                <a:solidFill>
                  <a:srgbClr val="333333"/>
                </a:solidFill>
                <a:latin typeface="Calibri"/>
              </a:rPr>
              <a:t>El HTML original no mostraba la lógica de fondo. Se resolvió con especificaciones escritas y validación periódica con el contador consultor.</a:t>
            </a:r>
          </a:p>
        </p:txBody>
      </p:sp>
      <p:sp>
        <p:nvSpPr>
          <p:cNvPr id="1028" name="TextBox 1027"/>
          <p:cNvSpPr txBox="1"/>
          <p:nvPr/>
        </p:nvSpPr>
        <p:spPr>
          <a:xfrm>
            <a:off x="914400" y="3246120"/>
            <a:ext cx="10424160" cy="777240"/>
          </a:xfrm>
          <a:prstGeom prst="rect">
            <a:avLst/>
          </a:prstGeom>
          <a:noFill/>
        </p:spPr>
        <p:txBody>
          <a:bodyPr wrap="square" lIns="45720" rIns="45720" tIns="0" bIns="0">
            <a:spAutoFit/>
          </a:bodyPr>
          <a:lstStyle/>
          <a:p>
            <a:pPr algn="l">
              <a:spcAft>
                <a:spcPts val="200"/>
              </a:spcAft>
            </a:pPr>
            <a:r>
              <a:rPr sz="1400" b="1">
                <a:solidFill>
                  <a:srgbClr val="4472C4"/>
                </a:solidFill>
                <a:latin typeface="Calibri"/>
              </a:rPr>
              <a:t>Sin acceso a datos reales del SII</a:t>
            </a:r>
          </a:p>
          <a:p>
            <a:pPr algn="l">
              <a:spcAft>
                <a:spcPts val="600"/>
              </a:spcAft>
            </a:pPr>
            <a:r>
              <a:rPr sz="1200" b="0">
                <a:solidFill>
                  <a:srgbClr val="333333"/>
                </a:solidFill>
                <a:latin typeface="Calibri"/>
              </a:rPr>
              <a:t>Se trabajó con conectores simulados y datos de prueba cargados por script, dejando la integración real acotada como etapa siguiente.</a:t>
            </a:r>
          </a:p>
        </p:txBody>
      </p:sp>
      <p:sp>
        <p:nvSpPr>
          <p:cNvPr id="1029" name="TextBox 1028"/>
          <p:cNvSpPr txBox="1"/>
          <p:nvPr/>
        </p:nvSpPr>
        <p:spPr>
          <a:xfrm>
            <a:off x="914400" y="4206240"/>
            <a:ext cx="10424160" cy="777240"/>
          </a:xfrm>
          <a:prstGeom prst="rect">
            <a:avLst/>
          </a:prstGeom>
          <a:noFill/>
        </p:spPr>
        <p:txBody>
          <a:bodyPr wrap="square" lIns="45720" rIns="45720" tIns="0" bIns="0">
            <a:spAutoFit/>
          </a:bodyPr>
          <a:lstStyle/>
          <a:p>
            <a:pPr algn="l">
              <a:spcAft>
                <a:spcPts val="200"/>
              </a:spcAft>
            </a:pPr>
            <a:r>
              <a:rPr sz="1400" b="1">
                <a:solidFill>
                  <a:srgbClr val="4472C4"/>
                </a:solidFill>
                <a:latin typeface="Calibri"/>
              </a:rPr>
              <a:t>Coordinación de dos desarrolladores en un mismo repositorio</a:t>
            </a:r>
          </a:p>
          <a:p>
            <a:pPr algn="l">
              <a:spcAft>
                <a:spcPts val="600"/>
              </a:spcAft>
            </a:pPr>
            <a:r>
              <a:rPr sz="1200" b="0">
                <a:solidFill>
                  <a:srgbClr val="333333"/>
                </a:solidFill>
                <a:latin typeface="Calibri"/>
              </a:rPr>
              <a:t>Una rama por especificación y Pull Requests con revisión cruzada evitaron conflictos y mantuvieron la calidad.</a:t>
            </a:r>
          </a:p>
        </p:txBody>
      </p:sp>
      <p:sp>
        <p:nvSpPr>
          <p:cNvPr id="1030" name="TextBox 1029"/>
          <p:cNvSpPr txBox="1"/>
          <p:nvPr/>
        </p:nvSpPr>
        <p:spPr>
          <a:xfrm>
            <a:off x="914400" y="5166359"/>
            <a:ext cx="10424160" cy="777240"/>
          </a:xfrm>
          <a:prstGeom prst="rect">
            <a:avLst/>
          </a:prstGeom>
          <a:noFill/>
        </p:spPr>
        <p:txBody>
          <a:bodyPr wrap="square" lIns="45720" rIns="45720" tIns="0" bIns="0">
            <a:spAutoFit/>
          </a:bodyPr>
          <a:lstStyle/>
          <a:p>
            <a:pPr algn="l">
              <a:spcAft>
                <a:spcPts val="200"/>
              </a:spcAft>
            </a:pPr>
            <a:r>
              <a:rPr sz="1400" b="1">
                <a:solidFill>
                  <a:srgbClr val="4472C4"/>
                </a:solidFill>
                <a:latin typeface="Calibri"/>
              </a:rPr>
              <a:t>Volumen de módulos por cubrir</a:t>
            </a:r>
          </a:p>
          <a:p>
            <a:pPr algn="l">
              <a:spcAft>
                <a:spcPts val="600"/>
              </a:spcAft>
            </a:pPr>
            <a:r>
              <a:rPr sz="1200" b="0">
                <a:solidFill>
                  <a:srgbClr val="333333"/>
                </a:solidFill>
                <a:latin typeface="Calibri"/>
              </a:rPr>
              <a:t>La estrategia de “estructura primero” permitió cubrir el catálogo completo y profundizar después en la lógica fina.</a:t>
            </a:r>
          </a:p>
        </p:txBody>
      </p:sp>
    </p:spTree>
    <p:extLst>
      <p:ext uri="{BB962C8B-B14F-4D97-AF65-F5344CB8AC3E}">
        <p14:creationId xmlns:p14="http://schemas.microsoft.com/office/powerpoint/2010/main" val="126626850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0" y="3044279"/>
            <a:ext cx="12191999" cy="769441"/>
          </a:xfrm>
          <a:prstGeom prst="rect">
            <a:avLst/>
          </a:prstGeom>
          <a:noFill/>
        </p:spPr>
        <p:txBody>
          <a:bodyPr wrap="square" rtlCol="0">
            <a:spAutoFit/>
          </a:bodyPr>
          <a:lstStyle/>
          <a:p>
            <a:pPr algn="ctr"/>
            <a:r>
              <a:rPr lang="es-MX" sz="4400" dirty="0"/>
              <a:t>PREGUNTAS DE LA COMISIÓN</a:t>
            </a:r>
          </a:p>
        </p:txBody>
      </p:sp>
    </p:spTree>
    <p:extLst>
      <p:ext uri="{BB962C8B-B14F-4D97-AF65-F5344CB8AC3E}">
        <p14:creationId xmlns:p14="http://schemas.microsoft.com/office/powerpoint/2010/main" val="4158079731"/>
      </p:ext>
    </p:extLst>
  </p:cSld>
  <p:clrMapOvr>
    <a:masterClrMapping/>
  </p:clrMapOvr>
  <p:transition spd="slow">
    <p:wipe/>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124</TotalTime>
  <Words>272</Words>
  <Application>Microsoft Office PowerPoint</Application>
  <PresentationFormat>Panorámica</PresentationFormat>
  <Paragraphs>128</Paragraphs>
  <Slides>14</Slides>
  <Notes>0</Notes>
  <HiddenSlides>0</HiddenSlides>
  <MMClips>0</MMClips>
  <ScaleCrop>false</ScaleCrop>
  <HeadingPairs>
    <vt:vector size="4" baseType="variant">
      <vt:variant>
        <vt:lpstr>Tema</vt:lpstr>
      </vt:variant>
      <vt:variant>
        <vt:i4>1</vt:i4>
      </vt:variant>
      <vt:variant>
        <vt:lpstr>Títulos de diapositiva</vt:lpstr>
      </vt:variant>
      <vt:variant>
        <vt:i4>14</vt:i4>
      </vt:variant>
    </vt:vector>
  </HeadingPairs>
  <TitlesOfParts>
    <vt:vector size="15"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Gerardo Galan Cruz</dc:creator>
  <cp:lastModifiedBy>Gerardo enrique Galan Cruz</cp:lastModifiedBy>
  <cp:revision>5</cp:revision>
  <dcterms:created xsi:type="dcterms:W3CDTF">2023-10-28T21:12:11Z</dcterms:created>
  <dcterms:modified xsi:type="dcterms:W3CDTF">2026-06-19T20:49:30Z</dcterms:modified>
</cp:coreProperties>
</file>