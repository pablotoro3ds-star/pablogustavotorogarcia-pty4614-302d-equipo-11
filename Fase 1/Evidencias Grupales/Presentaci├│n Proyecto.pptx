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Pablo. Saludo, integrantes del equipo y nombre del proyecto. Kuentas es un SaaS contable real de la empresa PittySoft; nuestro proyecto APT es construir sus libros contables oficiales y su reportería financiera.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Pablo. Contexto: consultoras y pymes chilenas que usan herramientas como MasContable o planillas. Tres problemas: ineficiencia, riesgo tributario ante el SII y falta de acceso remoto. Cerrar con a quiénes afecta.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Gabriel. Explicar que el proyecto cubre la Fase 3 del roadmap de Kuentas: los libros y reportes que cierran el ciclo contable. Destacar los tres aportes: cuadratura automática, libros sin planillas y operación en la nube.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Pablo. Recorrer la solicitud de izquierda a derecha: la vista en Vue llama a la API en NestJS, que aplica la lógica contable en la capa de servicios y persiste con Prisma en PostgreSQL. Mencionar el aislamiento multi-tenant y que el CI bloquea despliegues si fallan las pruebas.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Gabriel. Leer el objetivo general y resumir cada específico por su verbo: diseñar, implementar, construir, validar y desplegar. Cada uno se asocia a una etapa del plan de trabajo.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Pablo. Explicar que el proyecto recorre el perfil de egreso completo: desde el modelo de datos hasta la implantación. Dar un ejemplo concreto de la competencia 1: la prueba de cuadratura que bloquea el despliegue si Debe distinto de Haber.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Gabriel. SDD evita requerimientos ambiguos porque la SPEC define de antemano qué se construye y cómo se aprueba. Recorrer las seis etapas. Luego la división de roles y lo que hacen ambos.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Pablo. El ciclo contable ya funciona de punta a punta: maestros, vouchers, apertura, Libro Diario, Libro Mayor, Estado de Resultado y Balance General. Lo que queda son las Fases 4 a 6, la segunda pasada de reglas de negocio y el QA integral.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Gabriel. Las actividades de las semanas 1 a 7 ya están ejecutadas. Desde la semana 8 siguen las Fases 4 a 6 del roadmap, la segunda pasada de reglas de negocio y las pruebas de certificación. Las semanas 17 y 18 son despliegue final y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Pablo. El proyecto es factible porque parte de una base en producción, con especificaciones ya escritas y todos los recursos disponibles. Mencionar cada riesgo con su mitigación.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Gabriel. Dos evidencias de avance y dos finales. Justificar cada una: el repositorio demuestra el trabajo en equipo y la calidad; el despliegue demuestra la implantación; el informe y el manual documentan el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Presentan ambos. Agradecer a la comisión y al docente.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097280"/>
            <a:ext cx="4206240" cy="4206240"/>
          </a:xfrm>
          <a:prstGeom prst="ellipse">
            <a:avLst/>
          </a:prstGeom>
          <a:solidFill>
            <a:srgbClr val="236B47">
              <a:alpha val="65000"/>
            </a:srgbClr>
          </a:solidFill>
          <a:ln w="12700">
            <a:solidFill>
              <a:srgbClr val="236B4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017520"/>
            <a:ext cx="2377440" cy="2377440"/>
          </a:xfrm>
          <a:prstGeom prst="ellipse">
            <a:avLst/>
          </a:prstGeom>
          <a:solidFill>
            <a:srgbClr val="8BB7A3">
              <a:alpha val="30000"/>
            </a:srgbClr>
          </a:solidFill>
          <a:ln w="12700">
            <a:solidFill>
              <a:srgbClr val="8BB7A3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22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· CAPSTONE PTY4614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Kuentas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8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 contables oficiales y reportería financiera para una plataforma SaaS contable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Gustavo Toro García · Gabriel Alejandro Bermar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· Duoc UC, sede San Bernardo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11 · Sección 302D · Docente: Cristian Moreno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Consultoras contables y pymes en Chile que siguen trabajando con software de escritorio y planillas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5DFD9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566928" cy="566928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921" y="17933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Ineficiencia operativa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Digitación repetitiva de asientos, sin validación automática de la partida doble.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14173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5DFD9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645920"/>
            <a:ext cx="566928" cy="566928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841" y="179332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 tributario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Emitir los libros oficiales exige exportar y consolidar a mano, con riesgo de descuadres ante el SII.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35040" y="14173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5DFD9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645920"/>
            <a:ext cx="566928" cy="566928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761" y="179332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acceso remoto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locales no permiten trabajo colaborativo ni tienen arquitectura multiempresa en la nube.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 a </a:t>
            </a:r>
            <a:pPr indent="0" marL="0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contadores y asistentes contables</a:t>
            </a:r>
            <a:pPr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preparan la información, y a las </a:t>
            </a:r>
            <a:pPr indent="0" marL="0">
              <a:buNone/>
            </a:pPr>
            <a:r>
              <a:rPr lang="en-US" sz="13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clientes</a:t>
            </a:r>
            <a:pPr indent="0" marL="0"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que pagan el costo de los errores y los retrasos en el cierre mensual.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Kuentas · Capstone PTY4614 · Equipo 11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motor de libros y reportería integrado a Kuentas, desplegado en Google Cloud Platform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8463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5DFD9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Módulos que construimos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2103120" cy="438912"/>
          </a:xfrm>
          <a:prstGeom prst="roundRect">
            <a:avLst>
              <a:gd name="adj" fmla="val 12500"/>
            </a:avLst>
          </a:prstGeom>
          <a:solidFill>
            <a:srgbClr val="E4F1EA"/>
          </a:solidFill>
          <a:ln w="12700">
            <a:solidFill>
              <a:srgbClr val="E4F1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0574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Diario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71800" y="2057400"/>
            <a:ext cx="2103120" cy="438912"/>
          </a:xfrm>
          <a:prstGeom prst="roundRect">
            <a:avLst>
              <a:gd name="adj" fmla="val 12500"/>
            </a:avLst>
          </a:prstGeom>
          <a:solidFill>
            <a:srgbClr val="E4F1EA"/>
          </a:solidFill>
          <a:ln w="12700">
            <a:solidFill>
              <a:srgbClr val="E4F1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81528" y="20574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Mayor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624328"/>
            <a:ext cx="2103120" cy="438912"/>
          </a:xfrm>
          <a:prstGeom prst="roundRect">
            <a:avLst>
              <a:gd name="adj" fmla="val 12500"/>
            </a:avLst>
          </a:prstGeom>
          <a:solidFill>
            <a:srgbClr val="E4F1EA"/>
          </a:solidFill>
          <a:ln w="12700">
            <a:solidFill>
              <a:srgbClr val="E4F1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6243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de Compras y Ventas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71800" y="2624328"/>
            <a:ext cx="2103120" cy="438912"/>
          </a:xfrm>
          <a:prstGeom prst="roundRect">
            <a:avLst>
              <a:gd name="adj" fmla="val 12500"/>
            </a:avLst>
          </a:prstGeom>
          <a:solidFill>
            <a:srgbClr val="E4F1EA"/>
          </a:solidFill>
          <a:ln w="12700">
            <a:solidFill>
              <a:srgbClr val="E4F1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81528" y="26243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Resultado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191256"/>
            <a:ext cx="2103120" cy="438912"/>
          </a:xfrm>
          <a:prstGeom prst="roundRect">
            <a:avLst>
              <a:gd name="adj" fmla="val 12500"/>
            </a:avLst>
          </a:prstGeom>
          <a:solidFill>
            <a:srgbClr val="E4F1EA"/>
          </a:solidFill>
          <a:ln w="12700">
            <a:solidFill>
              <a:srgbClr val="E4F1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319125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Clasificado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71800" y="3191256"/>
            <a:ext cx="2103120" cy="438912"/>
          </a:xfrm>
          <a:prstGeom prst="roundRect">
            <a:avLst>
              <a:gd name="adj" fmla="val 12500"/>
            </a:avLst>
          </a:prstGeom>
          <a:solidFill>
            <a:srgbClr val="E4F1EA"/>
          </a:solidFill>
          <a:ln w="12700">
            <a:solidFill>
              <a:srgbClr val="E4F1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81528" y="319125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General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758184"/>
            <a:ext cx="2103120" cy="438912"/>
          </a:xfrm>
          <a:prstGeom prst="roundRect">
            <a:avLst>
              <a:gd name="adj" fmla="val 12500"/>
            </a:avLst>
          </a:prstGeom>
          <a:solidFill>
            <a:srgbClr val="E4F1EA"/>
          </a:solidFill>
          <a:ln w="12700">
            <a:solidFill>
              <a:srgbClr val="E4F1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375818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 analíticos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71800" y="3758184"/>
            <a:ext cx="2103120" cy="438912"/>
          </a:xfrm>
          <a:prstGeom prst="roundRect">
            <a:avLst>
              <a:gd name="adj" fmla="val 12500"/>
            </a:avLst>
          </a:prstGeom>
          <a:solidFill>
            <a:srgbClr val="E4F1EA"/>
          </a:solidFill>
          <a:ln w="12700">
            <a:solidFill>
              <a:srgbClr val="E4F1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81528" y="375818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por centro de costo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23560" y="1417320"/>
            <a:ext cx="502920" cy="502920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4319" y="1548079"/>
            <a:ext cx="241402" cy="24140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6263640" y="13990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Cuadratura automática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263640" y="17190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= Haber validado en cada comprobante.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623560" y="2496312"/>
            <a:ext cx="502920" cy="502920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319" y="2627071"/>
            <a:ext cx="241402" cy="241402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6263640" y="24780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 sin planillas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6263640" y="279806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período, cuenta y centro de costo, con exportación.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5623560" y="3575304"/>
            <a:ext cx="502920" cy="502920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319" y="3706063"/>
            <a:ext cx="241402" cy="24140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6263640" y="355701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nube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6263640" y="38770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de datos por empresa cliente.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Kuentas · Capstone PTY4614 · Equipo 11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la solución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N-Tier y frontend MVVM, desacoplados y desplegados en contenedores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5DFD9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27632"/>
            <a:ext cx="548640" cy="548640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177027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824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331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· Composition API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 · Tailwind CSS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3108960"/>
            <a:ext cx="1737360" cy="301752"/>
          </a:xfrm>
          <a:prstGeom prst="roundRect">
            <a:avLst>
              <a:gd name="adj" fmla="val 15152"/>
            </a:avLst>
          </a:prstGeom>
          <a:solidFill>
            <a:srgbClr val="E4F1EA"/>
          </a:solidFill>
          <a:ln w="12700">
            <a:solidFill>
              <a:srgbClr val="E4F1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310896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MVVM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017520" y="2331720"/>
            <a:ext cx="228600" cy="274320"/>
          </a:xfrm>
          <a:prstGeom prst="rightArrow">
            <a:avLst/>
          </a:prstGeom>
          <a:solidFill>
            <a:srgbClr val="8BB7A3"/>
          </a:solidFill>
          <a:ln w="12700">
            <a:solidFill>
              <a:srgbClr val="8BB7A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91840" y="141732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5DFD9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20440" y="1627632"/>
            <a:ext cx="548640" cy="548640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086" y="1770278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206240" y="16824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3520440" y="2331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· TypeScript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 → Repository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3520440" y="3108960"/>
            <a:ext cx="1737360" cy="301752"/>
          </a:xfrm>
          <a:prstGeom prst="roundRect">
            <a:avLst>
              <a:gd name="adj" fmla="val 15152"/>
            </a:avLst>
          </a:prstGeom>
          <a:solidFill>
            <a:srgbClr val="E4F1EA"/>
          </a:solidFill>
          <a:ln w="12700">
            <a:solidFill>
              <a:srgbClr val="E4F1E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520440" y="310896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N-Tier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852160" y="2331720"/>
            <a:ext cx="228600" cy="274320"/>
          </a:xfrm>
          <a:prstGeom prst="rightArrow">
            <a:avLst/>
          </a:prstGeom>
          <a:solidFill>
            <a:srgbClr val="8BB7A3"/>
          </a:solidFill>
          <a:ln w="12700">
            <a:solidFill>
              <a:srgbClr val="8BB7A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26480" y="141732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5DFD9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355080" y="1627632"/>
            <a:ext cx="548640" cy="548640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726" y="1770278"/>
            <a:ext cx="263347" cy="26334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040880" y="16824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6355080" y="2331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· PostgreSQL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por empresa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355080" y="3108960"/>
            <a:ext cx="1737360" cy="301752"/>
          </a:xfrm>
          <a:prstGeom prst="roundRect">
            <a:avLst>
              <a:gd name="adj" fmla="val 15152"/>
            </a:avLst>
          </a:prstGeom>
          <a:solidFill>
            <a:srgbClr val="E4F1EA"/>
          </a:solidFill>
          <a:ln w="12700">
            <a:solidFill>
              <a:srgbClr val="E4F1EA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310896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73D2B"/>
          </a:solidFill>
          <a:ln w="12700">
            <a:solidFill>
              <a:srgbClr val="173D2B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7764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234440" y="3794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Platform: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Run, Cloud SQL y Artifact Registry. GitHub con integración continua: las pruebas en Vitest condicionan cada despliegue.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Kuentas · Capstone PTY4614 · Equipo 11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73D2B"/>
          </a:solidFill>
          <a:ln w="12700">
            <a:solidFill>
              <a:srgbClr val="173D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5156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 integrar los módulos de libros contables oficiales y reportería financiera de Kuentas, asegurando la cuadratura contable, la integridad de las transacciones y su despliegue operativo en la nube.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231136"/>
            <a:ext cx="347472" cy="347472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19456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</a:t>
            </a:r>
            <a:pPr indent="0" marL="0">
              <a:buNone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datos de libros e informes, con índices por cuenta, período y empresa.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734056"/>
            <a:ext cx="347472" cy="347472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734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69748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</a:t>
            </a:r>
            <a:pPr indent="0" marL="0">
              <a:buNone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servicios y endpoints en NestJS con Prisma para procesar comprobantes y calcular saldos.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236976"/>
            <a:ext cx="347472" cy="347472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20040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</a:t>
            </a:r>
            <a:pPr indent="0" marL="0">
              <a:buNone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vistas en Vue 3 con filtros por período, cuenta y centro de costo, y exportación.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739896"/>
            <a:ext cx="347472" cy="347472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739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70332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</a:t>
            </a:r>
            <a:pPr indent="0" marL="0">
              <a:buNone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cuadratura contable con pruebas unitarias y de integración en el pipeline de CI.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4242816"/>
            <a:ext cx="347472" cy="347472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4242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420624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Desplegar </a:t>
            </a:r>
            <a:pPr indent="0" marL="0">
              <a:buNone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en GCP y documentarla en un manual para usuarios contables.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Kuentas · Capstone PTY4614 · Equipo 11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Competencias del perfil de egreso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aplicamos cada competencia en el proyecto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5DFD9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438912" cy="438912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197" y="1668597"/>
            <a:ext cx="210678" cy="21067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· Pruebas de certificación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03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Certificar Debe = Haber y el cálculo de saldos con pruebas antes de cada despliegue.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68980" y="13716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5DFD9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51860" y="1554480"/>
            <a:ext cx="438912" cy="438912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977" y="1668597"/>
            <a:ext cx="210678" cy="21067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00500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· Modelos de datos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451860" y="2103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vouchers, cuentas, períodos y centros de costo con aislamiento por empresa.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80760" y="13716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5DFD9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554480"/>
            <a:ext cx="438912" cy="438912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757" y="1668597"/>
            <a:ext cx="210678" cy="21067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12280" y="15361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 · Programas y rutinas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263640" y="2103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contable en TypeScript con tipado estricto y código modular.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1828800" y="3063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5DFD9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011680" y="3246120"/>
            <a:ext cx="438912" cy="438912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797" y="3360237"/>
            <a:ext cx="210678" cy="21067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560320" y="32278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C8 · Modelo arquitectónico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2011680" y="3794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por capas y frontend MVVM para desplegar cada módulo por separado.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640580" y="3063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5DFD9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23460" y="3246120"/>
            <a:ext cx="438912" cy="438912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577" y="3360237"/>
            <a:ext cx="210678" cy="21067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72100" y="32278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C11 · Gestión de proyectos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823460" y="3794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rama por spec, revisión cruzada de PR y seguimiento contra el roadmap.</a:t>
            </a:r>
            <a:endParaRPr lang="en-US" sz="1150" dirty="0"/>
          </a:p>
        </p:txBody>
      </p:sp>
      <p:sp>
        <p:nvSpPr>
          <p:cNvPr id="29" name="Text 2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Kuentas · Capstone PTY4614 · Equipo 11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Metodología: Spec-Driven Development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parte de una especificación con modelo de datos, endpoints y criterios de aceptación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59536" y="1371600"/>
            <a:ext cx="457200" cy="457200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53312" y="1600200"/>
            <a:ext cx="914400" cy="0"/>
          </a:xfrm>
          <a:prstGeom prst="line">
            <a:avLst/>
          </a:prstGeom>
          <a:noFill/>
          <a:ln w="19050">
            <a:solidFill>
              <a:srgbClr val="8BB7A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901952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la SPEC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58568" y="1371600"/>
            <a:ext cx="457200" cy="457200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5856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52344" y="1600200"/>
            <a:ext cx="914400" cy="0"/>
          </a:xfrm>
          <a:prstGeom prst="line">
            <a:avLst/>
          </a:prstGeom>
          <a:noFill/>
          <a:ln w="19050">
            <a:solidFill>
              <a:srgbClr val="8BB7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56232" y="1901952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 datos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0" y="1371600"/>
            <a:ext cx="457200" cy="457200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51376" y="1600200"/>
            <a:ext cx="914400" cy="0"/>
          </a:xfrm>
          <a:prstGeom prst="line">
            <a:avLst/>
          </a:prstGeom>
          <a:noFill/>
          <a:ln w="19050">
            <a:solidFill>
              <a:srgbClr val="8BB7A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55264" y="1901952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NestJS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56632" y="1371600"/>
            <a:ext cx="457200" cy="457200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5663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550408" y="1600200"/>
            <a:ext cx="914400" cy="0"/>
          </a:xfrm>
          <a:prstGeom prst="line">
            <a:avLst/>
          </a:prstGeom>
          <a:noFill/>
          <a:ln w="19050">
            <a:solidFill>
              <a:srgbClr val="8BB7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54296" y="1901952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Vue 3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55664" y="1371600"/>
            <a:ext cx="457200" cy="457200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55664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949440" y="1600200"/>
            <a:ext cx="914400" cy="0"/>
          </a:xfrm>
          <a:prstGeom prst="line">
            <a:avLst/>
          </a:prstGeom>
          <a:noFill/>
          <a:ln w="19050">
            <a:solidFill>
              <a:srgbClr val="8BB7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901952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PR cruzado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54696" y="1371600"/>
            <a:ext cx="457200" cy="4572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5469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1901952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 Cloud Run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26517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5DFD9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" y="2834640"/>
            <a:ext cx="457200" cy="457200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953512"/>
            <a:ext cx="219456" cy="219456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280160" y="2788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Toro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23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y base de datos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85800" y="340156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 Prisma, servicios y endpoints en NestJS, pruebas de la lógica contable y despliegue en GCP.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663440" y="26517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5DFD9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892040" y="2834640"/>
            <a:ext cx="457200" cy="457200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295351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5486400" y="2788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Alejandro Bermar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23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4892040" y="340156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en Vue 3, estado con Pinia, filtros y exportaciones, y usabilidad de cada pantalla.</a:t>
            </a:r>
            <a:endParaRPr lang="en-US" sz="1150" dirty="0"/>
          </a:p>
        </p:txBody>
      </p:sp>
      <p:sp>
        <p:nvSpPr>
          <p:cNvPr id="37" name="Text 33"/>
          <p:cNvSpPr txBox="1"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Ambos: redactan y revisan las SPEC, revisan los Pull Requests del otro y validan con el contador consultor.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Kuentas · Capstone PTY4614 · Equipo 11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actual del roadmap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Kuentas al 11 de septiembre de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5DFD9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4475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3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de 27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762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implementadas (Fases 0 a 3)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5DFD9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44475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3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de 9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1762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de libros e informes (Fase 3)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5DFD9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44475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3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de 9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1762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del MVP end-to-end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1097280" cy="960120"/>
          </a:xfrm>
          <a:prstGeom prst="roundRect">
            <a:avLst>
              <a:gd name="adj" fmla="val 5714"/>
            </a:avLst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" y="3063240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heredada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" y="3657600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36776" y="3017520"/>
            <a:ext cx="1097280" cy="960120"/>
          </a:xfrm>
          <a:prstGeom prst="roundRect">
            <a:avLst>
              <a:gd name="adj" fmla="val 5714"/>
            </a:avLst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09928" y="3063240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709928" y="3657600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16352" y="3017520"/>
            <a:ext cx="1097280" cy="960120"/>
          </a:xfrm>
          <a:prstGeom prst="roundRect">
            <a:avLst>
              <a:gd name="adj" fmla="val 5714"/>
            </a:avLst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89504" y="3063240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889504" y="3657600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95928" y="3017520"/>
            <a:ext cx="1097280" cy="960120"/>
          </a:xfrm>
          <a:prstGeom prst="roundRect">
            <a:avLst>
              <a:gd name="adj" fmla="val 5714"/>
            </a:avLst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69080" y="3063240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 e informes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069080" y="3657600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75504" y="3017520"/>
            <a:ext cx="10972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8BB7A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48656" y="3063240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Compras/Ventas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248656" y="3657600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55080" y="3017520"/>
            <a:ext cx="10972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8BB7A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28232" y="3063240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Honorarios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28232" y="3657600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34656" y="3017520"/>
            <a:ext cx="10972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8BB7A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07808" y="3063240"/>
            <a:ext cx="950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Tesorería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607808" y="3657600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spec pasó por su rama, un Pull Request revisado y el pipeline de CI antes de llegar a producción (PR #22 a #42).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Kuentas · Capstone PTY4614 · Equipo 11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 y carta Gantt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semanas del semestre, organizadas en las tres fases de la asignatura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063240" y="1280160"/>
            <a:ext cx="1249680" cy="219456"/>
          </a:xfrm>
          <a:prstGeom prst="rect">
            <a:avLst/>
          </a:prstGeom>
          <a:solidFill>
            <a:srgbClr val="E4F1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063240" y="1280160"/>
            <a:ext cx="124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312920" y="1280160"/>
            <a:ext cx="3749040" cy="219456"/>
          </a:xfrm>
          <a:prstGeom prst="rect">
            <a:avLst/>
          </a:prstGeom>
          <a:solidFill>
            <a:srgbClr val="EEF3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12920" y="12801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061960" y="1280160"/>
            <a:ext cx="624840" cy="219456"/>
          </a:xfrm>
          <a:prstGeom prst="rect">
            <a:avLst/>
          </a:prstGeom>
          <a:solidFill>
            <a:srgbClr val="E4F1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61960" y="1280160"/>
            <a:ext cx="62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1527048"/>
            <a:ext cx="3124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3375660" y="1527048"/>
            <a:ext cx="3124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3688080" y="1527048"/>
            <a:ext cx="3124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4000500" y="1527048"/>
            <a:ext cx="3124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4312920" y="1527048"/>
            <a:ext cx="3124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4625340" y="1527048"/>
            <a:ext cx="3124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1527048"/>
            <a:ext cx="3124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5250180" y="1527048"/>
            <a:ext cx="3124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5562600" y="1527048"/>
            <a:ext cx="3124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5875020" y="1527048"/>
            <a:ext cx="3124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6187440" y="1527048"/>
            <a:ext cx="3124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6499860" y="1527048"/>
            <a:ext cx="3124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1527048"/>
            <a:ext cx="3124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7124700" y="1527048"/>
            <a:ext cx="3124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7437120" y="1527048"/>
            <a:ext cx="3124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7749540" y="1527048"/>
            <a:ext cx="3124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8061960" y="1527048"/>
            <a:ext cx="3124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8374380" y="1527048"/>
            <a:ext cx="3124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S18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1737360"/>
            <a:ext cx="8229600" cy="301752"/>
          </a:xfrm>
          <a:prstGeom prst="rect">
            <a:avLst/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173736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SPEC y modelado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081528" y="1801368"/>
            <a:ext cx="588264" cy="173736"/>
          </a:xfrm>
          <a:prstGeom prst="roundRect">
            <a:avLst>
              <a:gd name="adj" fmla="val 21053"/>
            </a:avLst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203911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Maestros base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081528" y="2103120"/>
            <a:ext cx="900684" cy="173736"/>
          </a:xfrm>
          <a:prstGeom prst="roundRect">
            <a:avLst>
              <a:gd name="adj" fmla="val 21053"/>
            </a:avLst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2340864"/>
            <a:ext cx="8229600" cy="301752"/>
          </a:xfrm>
          <a:prstGeom prst="rect">
            <a:avLst/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234086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transaccional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706368" y="2404872"/>
            <a:ext cx="588264" cy="173736"/>
          </a:xfrm>
          <a:prstGeom prst="roundRect">
            <a:avLst>
              <a:gd name="adj" fmla="val 21053"/>
            </a:avLst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2642616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 e informes contables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393948" y="2706624"/>
            <a:ext cx="1837944" cy="173736"/>
          </a:xfrm>
          <a:prstGeom prst="roundRect">
            <a:avLst>
              <a:gd name="adj" fmla="val 21053"/>
            </a:avLst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2944368"/>
            <a:ext cx="8229600" cy="301752"/>
          </a:xfrm>
          <a:prstGeom prst="rect">
            <a:avLst/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8640" y="294436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Compras/ventas, honorarios y tesorería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268468" y="3008376"/>
            <a:ext cx="1837944" cy="173736"/>
          </a:xfrm>
          <a:prstGeom prst="roundRect">
            <a:avLst>
              <a:gd name="adj" fmla="val 21053"/>
            </a:avLst>
          </a:prstGeom>
          <a:solidFill>
            <a:srgbClr val="8BB7A3"/>
          </a:solidFill>
          <a:ln w="12700">
            <a:solidFill>
              <a:srgbClr val="8BB7A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324612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pasada de reglas de negocio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518148" y="3310128"/>
            <a:ext cx="1213104" cy="173736"/>
          </a:xfrm>
          <a:prstGeom prst="roundRect">
            <a:avLst>
              <a:gd name="adj" fmla="val 21053"/>
            </a:avLst>
          </a:prstGeom>
          <a:solidFill>
            <a:srgbClr val="8BB7A3"/>
          </a:solidFill>
          <a:ln w="12700">
            <a:solidFill>
              <a:srgbClr val="8BB7A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3547872"/>
            <a:ext cx="8229600" cy="301752"/>
          </a:xfrm>
          <a:prstGeom prst="rect">
            <a:avLst/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8640" y="354787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certificación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830568" y="3611880"/>
            <a:ext cx="1213104" cy="173736"/>
          </a:xfrm>
          <a:prstGeom prst="roundRect">
            <a:avLst>
              <a:gd name="adj" fmla="val 21053"/>
            </a:avLst>
          </a:prstGeom>
          <a:solidFill>
            <a:srgbClr val="8BB7A3"/>
          </a:solidFill>
          <a:ln w="12700">
            <a:solidFill>
              <a:srgbClr val="8BB7A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8640" y="384962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Despliegue, documentación y cierre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080248" y="3913632"/>
            <a:ext cx="588264" cy="173736"/>
          </a:xfrm>
          <a:prstGeom prst="roundRect">
            <a:avLst>
              <a:gd name="adj" fmla="val 21053"/>
            </a:avLst>
          </a:prstGeom>
          <a:solidFill>
            <a:srgbClr val="8BB7A3"/>
          </a:solidFill>
          <a:ln w="12700">
            <a:solidFill>
              <a:srgbClr val="8BB7A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4151376"/>
            <a:ext cx="8229600" cy="301752"/>
          </a:xfrm>
          <a:prstGeom prst="rect">
            <a:avLst/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48640" y="4151376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y control del proyecto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081528" y="4215384"/>
            <a:ext cx="5586984" cy="173736"/>
          </a:xfrm>
          <a:prstGeom prst="roundRect">
            <a:avLst>
              <a:gd name="adj" fmla="val 21053"/>
            </a:avLst>
          </a:prstGeom>
          <a:solidFill>
            <a:srgbClr val="8BB7A3"/>
          </a:solidFill>
          <a:ln w="12700">
            <a:solidFill>
              <a:srgbClr val="8BB7A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250180" y="1691640"/>
            <a:ext cx="0" cy="2807208"/>
          </a:xfrm>
          <a:prstGeom prst="line">
            <a:avLst/>
          </a:prstGeom>
          <a:noFill/>
          <a:ln w="19050">
            <a:solidFill>
              <a:srgbClr val="C23B32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457200" y="4562856"/>
            <a:ext cx="201168" cy="128016"/>
          </a:xfrm>
          <a:prstGeom prst="rect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13232" y="451713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Ejecutado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828800" y="4562856"/>
            <a:ext cx="201168" cy="128016"/>
          </a:xfrm>
          <a:prstGeom prst="rect">
            <a:avLst/>
          </a:prstGeom>
          <a:solidFill>
            <a:srgbClr val="8BB7A3"/>
          </a:solidFill>
          <a:ln w="12700">
            <a:solidFill>
              <a:srgbClr val="8BB7A3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084832" y="451713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Planificado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46120" y="4626864"/>
            <a:ext cx="228600" cy="0"/>
          </a:xfrm>
          <a:prstGeom prst="line">
            <a:avLst/>
          </a:prstGeom>
          <a:noFill/>
          <a:ln w="19050">
            <a:solidFill>
              <a:srgbClr val="C23B32"/>
            </a:solidFill>
            <a:prstDash val="dash"/>
          </a:ln>
        </p:spPr>
      </p:sp>
      <p:sp>
        <p:nvSpPr>
          <p:cNvPr id="57" name="Text 55"/>
          <p:cNvSpPr txBox="1"/>
          <p:nvPr/>
        </p:nvSpPr>
        <p:spPr>
          <a:xfrm>
            <a:off x="3547872" y="45171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actual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Kuentas · Capstone PTY4614 · Equipo 11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Factibilidad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semanas, recursos disponibles y riesgos con mitigación definida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9525">
            <a:solidFill>
              <a:srgbClr val="D5DFD9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733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Facilitadores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48840"/>
            <a:ext cx="3611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Kuentas ya en producción: maestros y captura transaccional.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con modelo de datos y criterios de aceptación definidos.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GCP, GitHub con CI y stack configurado, sin costo adicional.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consultor que valida las reglas contables.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402336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9525">
            <a:solidFill>
              <a:srgbClr val="D5DFD9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554480"/>
            <a:ext cx="457200" cy="45720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67335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Obstaculizadores y mitigación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2148840"/>
            <a:ext cx="3611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 contable compleja → validación con el contador y revisión de SPEC.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 reales del SII → conectores simulados y scripts de carga.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desarrolladores en un repo → ramas por spec y PR con revisión cruzada.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Kuentas · Capstone PTY4614 · Equipo 11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Evidencias comprometidas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que demuestran el avance y el resultado del proyecto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5DFD9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72768"/>
            <a:ext cx="502920" cy="502920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703527"/>
            <a:ext cx="241402" cy="2414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80160" y="169164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E4F1EA"/>
          </a:solidFill>
          <a:ln w="12700">
            <a:solidFill>
              <a:srgbClr val="E4F1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80160" y="16916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240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 de definición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9260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Fundamentación, objetivos, metodología, plan y carta Gantt.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60320" y="137160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5DFD9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0" y="1572768"/>
            <a:ext cx="502920" cy="502920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959" y="1703527"/>
            <a:ext cx="241402" cy="24140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383280" y="169164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E4F1EA"/>
          </a:solidFill>
          <a:ln w="12700">
            <a:solidFill>
              <a:srgbClr val="E4F1E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383280" y="16916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2743200" y="2240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 y pruebas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2743200" y="29260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aprobados por spec y reportes de pruebas del CI.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663440" y="137160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5DFD9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846320" y="1572768"/>
            <a:ext cx="502920" cy="502920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079" y="1703527"/>
            <a:ext cx="241402" cy="24140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486400" y="169164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486400" y="16916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4846320" y="2240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 desplegada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4846320" y="29260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 e informes operativos en Cloud Run con datos de prueba.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766560" y="137160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5DFD9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949440" y="1572768"/>
            <a:ext cx="502920" cy="502920"/>
          </a:xfrm>
          <a:prstGeom prst="ellipse">
            <a:avLst/>
          </a:prstGeom>
          <a:solidFill>
            <a:srgbClr val="236B47"/>
          </a:solidFill>
          <a:ln w="12700">
            <a:solidFill>
              <a:srgbClr val="236B47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0199" y="1703527"/>
            <a:ext cx="241402" cy="24140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589520" y="169164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589520" y="16916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6949440" y="2240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 técnico y manual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6949440" y="292608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datos, arquitectura, resultados de pruebas y guía de uso.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Kuentas · Capstone PTY4614 · Equipo 11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560320"/>
            <a:ext cx="3840480" cy="3840480"/>
          </a:xfrm>
          <a:prstGeom prst="ellipse">
            <a:avLst/>
          </a:prstGeom>
          <a:solidFill>
            <a:srgbClr val="236B47">
              <a:alpha val="60000"/>
            </a:srgbClr>
          </a:solidFill>
          <a:ln w="12700">
            <a:solidFill>
              <a:srgbClr val="236B47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Gustavo Toro García · Gabriel Alejandro Bermar · Equipo 11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B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github.com/pablotoro3ds-star/PabloGustavoToroGarcia-PTY4614-302D-EQUIPO-11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Proyecto APT – Kuentas</dc:title>
  <dc:subject>PptxGenJS Presentation</dc:subject>
  <dc:creator>Pablo Gustavo Toro García</dc:creator>
  <cp:lastModifiedBy>Pablo Gustavo Toro García</cp:lastModifiedBy>
  <cp:revision>1</cp:revision>
  <dcterms:created xsi:type="dcterms:W3CDTF">2026-09-21T23:25:03Z</dcterms:created>
  <dcterms:modified xsi:type="dcterms:W3CDTF">2026-09-21T23:25:03Z</dcterms:modified>
</cp:coreProperties>
</file>